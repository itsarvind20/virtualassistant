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-274320"/>
            <a:ext cx="3931920" cy="3931920"/>
          </a:xfrm>
          <a:prstGeom prst="arc">
            <a:avLst/>
          </a:prstGeom>
          <a:noFill/>
          <a:ln w="27940">
            <a:solidFill>
              <a:srgbClr val="2FE7D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457200"/>
            <a:ext cx="2514600" cy="2514600"/>
          </a:xfrm>
          <a:prstGeom prst="arc">
            <a:avLst/>
          </a:prstGeom>
          <a:noFill/>
          <a:ln w="20320">
            <a:solidFill>
              <a:srgbClr val="4EA7FF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583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</a:rPr>
              <a:t>VIRTUAL ASSISTANT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6766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AFF"/>
                </a:solidFill>
              </a:rPr>
              <a:t>A personalized voice assistant built on the MERN stack.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94944" y="2606040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CC"/>
                </a:solidFill>
              </a:rPr>
              <a:t>The project combines browser voice recognition, AI command understanding, secure user profiles, media control, desktop automation, and Google Calendar workflows in one assistant experience.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4151376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43251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E7D0"/>
                </a:solidFill>
              </a:rPr>
              <a:t>MERN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7824" y="46817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application stack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7824" y="4910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C"/>
                </a:solidFill>
              </a:rPr>
              <a:t>React + Express + MongoDB + Node.js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4151376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43251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FF"/>
                </a:solidFill>
              </a:rPr>
              <a:t>Voice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0712" y="46817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first interaction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0712" y="4910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C"/>
                </a:solidFill>
              </a:rPr>
              <a:t>Wake word, speech recognition, TTS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79008" y="4151376"/>
            <a:ext cx="2542032" cy="1078992"/>
          </a:xfrm>
          <a:prstGeom prst="roundRect">
            <a:avLst>
              <a:gd name="adj" fmla="val 5085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3251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</a:rPr>
              <a:t>AI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46817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command layer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49103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C"/>
                </a:solidFill>
              </a:rPr>
              <a:t>Groq parsing with optional OpenAI transcription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22208" y="4151376"/>
            <a:ext cx="2606040" cy="1078992"/>
          </a:xfrm>
          <a:prstGeom prst="roundRect">
            <a:avLst>
              <a:gd name="adj" fmla="val 5085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432511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E68B"/>
                </a:solidFill>
              </a:rPr>
              <a:t>Calendar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4681728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product extension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0" y="4910328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6CC"/>
                </a:solidFill>
              </a:rPr>
              <a:t>OAuth, events, reminders, confirmations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4944" y="62636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6CC"/>
                </a:solidFill>
              </a:rPr>
              <a:t>Project 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THESIS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assistant turns scattered digital tasks into one conversational control surface.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74520"/>
            <a:ext cx="2971800" cy="1600200"/>
          </a:xfrm>
          <a:prstGeom prst="roundRect">
            <a:avLst>
              <a:gd name="adj" fmla="val 3429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74520"/>
            <a:ext cx="64008" cy="1600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57400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Before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2359152"/>
            <a:ext cx="25877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Users jump between browser tabs, music apps, search, calendar tools, and desktop utilities for small everyday tasks.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572000" y="1600200"/>
            <a:ext cx="3063240" cy="2148840"/>
          </a:xfrm>
          <a:prstGeom prst="roundRect">
            <a:avLst>
              <a:gd name="adj" fmla="val 2553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600200"/>
            <a:ext cx="64008" cy="2148840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783080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Assistant bridge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2084832"/>
            <a:ext cx="2679192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A custom wake word opens a short command window, then the system chooses the right tool path automatically.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458200" y="1874520"/>
            <a:ext cx="2834640" cy="1600200"/>
          </a:xfrm>
          <a:prstGeom prst="roundRect">
            <a:avLst>
              <a:gd name="adj" fmla="val 3429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874520"/>
            <a:ext cx="64008" cy="1600200"/>
          </a:xfrm>
          <a:prstGeom prst="rect">
            <a:avLst/>
          </a:prstGeom>
          <a:solidFill>
            <a:srgbClr val="6FE68B"/>
          </a:solidFill>
          <a:ln w="12700">
            <a:solidFill>
              <a:srgbClr val="6FE6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9368" y="20574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After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59368" y="2359152"/>
            <a:ext cx="245059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The same interface can answer, search, play music, control media, launch apps, and schedule calendar items.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22192" y="2651760"/>
            <a:ext cx="658368" cy="0"/>
          </a:xfrm>
          <a:prstGeom prst="line">
            <a:avLst/>
          </a:prstGeom>
          <a:noFill/>
          <a:ln w="15240">
            <a:solidFill>
              <a:srgbClr val="2FE7D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2651760"/>
            <a:ext cx="658368" cy="0"/>
          </a:xfrm>
          <a:prstGeom prst="line">
            <a:avLst/>
          </a:prstGeom>
          <a:noFill/>
          <a:ln w="15240">
            <a:solidFill>
              <a:srgbClr val="2FE7D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5840" y="4626864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57200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AFF"/>
                </a:solidFill>
              </a:rPr>
              <a:t>Personalization keeps the assistant name, avatar, and profile tied to each signed-in user.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5102352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504748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AFF"/>
                </a:solidFill>
              </a:rPr>
              <a:t>Voice input and typed input share the same command processor, so the feature set stays consistent.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" y="557784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552297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AFF"/>
                </a:solidFill>
              </a:rPr>
              <a:t>Confirmation flows make calendar writes safer before events are created, updated, or deleted.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is broader than chat: it combines identity, voice, tools, and scheduling.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83080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783080"/>
            <a:ext cx="64008" cy="1115568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65960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User accounts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267712"/>
            <a:ext cx="2770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JWT cookies, bcrypt password hashing, protected routes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783080"/>
            <a:ext cx="64008" cy="1115568"/>
          </a:xfrm>
          <a:prstGeom prst="rect">
            <a:avLst/>
          </a:prstGeom>
          <a:solidFill>
            <a:srgbClr val="4EA7FF"/>
          </a:solidFill>
          <a:ln w="12700">
            <a:solidFill>
              <a:srgbClr val="4EA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965960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Assistant identity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67712"/>
            <a:ext cx="2770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Custom name as wake word, built-in or uploaded avatar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247888" y="1783080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1783080"/>
            <a:ext cx="64008" cy="11155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1965960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Voice loop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49056" y="2267712"/>
            <a:ext cx="2770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Wake phrases, fuzzy matching, speech recognition, synthesis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13232" y="3383280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383280"/>
            <a:ext cx="64008" cy="1115568"/>
          </a:xfrm>
          <a:prstGeom prst="rect">
            <a:avLst/>
          </a:prstGeom>
          <a:solidFill>
            <a:srgbClr val="6FE68B"/>
          </a:solidFill>
          <a:ln w="12700">
            <a:solidFill>
              <a:srgbClr val="6FE6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566160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AI command parsing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867912"/>
            <a:ext cx="2770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Groq classifies intent and returns structured command data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80560" y="3383280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383280"/>
            <a:ext cx="64008" cy="11155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566160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Media and web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3867912"/>
            <a:ext cx="2770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Google, YouTube search, YouTube Music, pause/resume/next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47888" y="3383280"/>
            <a:ext cx="3154680" cy="1115568"/>
          </a:xfrm>
          <a:prstGeom prst="roundRect">
            <a:avLst>
              <a:gd name="adj" fmla="val 491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7888" y="3383280"/>
            <a:ext cx="64008" cy="1115568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9056" y="3566160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Calendar workflows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49056" y="3867912"/>
            <a:ext cx="2770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OAuth, event CRUD, reminders, birthdays, free/busy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804672" y="548640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AFF"/>
                </a:solidFill>
              </a:rPr>
              <a:t>Core value: a practical assistant that can move from conversation to action without forcing the user through separate interfaces.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handles the live assistant experience while Express owns secure integrations and execution.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2024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1F2A44"/>
          </a:solidFill>
          <a:ln w="13970">
            <a:solidFill>
              <a:srgbClr val="2FE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574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React + Vite UI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340864"/>
            <a:ext cx="1911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Home, auth, customization, calendar panel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9808" y="365760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1F2A44"/>
          </a:solidFill>
          <a:ln w="13970">
            <a:solidFill>
              <a:srgbClr val="4EA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9476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Voice services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078224"/>
            <a:ext cx="1911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Wake word, recorder, TTS, interrupt logic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657600" y="2697480"/>
            <a:ext cx="2331720" cy="1097280"/>
          </a:xfrm>
          <a:prstGeom prst="roundRect">
            <a:avLst>
              <a:gd name="adj" fmla="val 4167"/>
            </a:avLst>
          </a:prstGeom>
          <a:solidFill>
            <a:srgbClr val="1F2A44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2834640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Express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76472" y="311810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Auth, user, system, calendar, transcription routes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720840" y="1508760"/>
            <a:ext cx="2057400" cy="868680"/>
          </a:xfrm>
          <a:prstGeom prst="roundRect">
            <a:avLst>
              <a:gd name="adj" fmla="val 5263"/>
            </a:avLst>
          </a:prstGeom>
          <a:solidFill>
            <a:srgbClr val="1F2A44"/>
          </a:solidFill>
          <a:ln w="13970">
            <a:solidFill>
              <a:srgbClr val="6FE6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64592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MongoDB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39712" y="1929384"/>
            <a:ext cx="1819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Users, assistant settings, encrypted tokens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720840" y="2743200"/>
            <a:ext cx="2057400" cy="868680"/>
          </a:xfrm>
          <a:prstGeom prst="roundRect">
            <a:avLst>
              <a:gd name="adj" fmla="val 5263"/>
            </a:avLst>
          </a:prstGeom>
          <a:solidFill>
            <a:srgbClr val="1F2A44"/>
          </a:solidFill>
          <a:ln w="13970">
            <a:solidFill>
              <a:srgbClr val="4EA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88036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Cloudinary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39712" y="3163824"/>
            <a:ext cx="1819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Uploaded assistant images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720840" y="3977640"/>
            <a:ext cx="2057400" cy="868680"/>
          </a:xfrm>
          <a:prstGeom prst="roundRect">
            <a:avLst>
              <a:gd name="adj" fmla="val 5263"/>
            </a:avLst>
          </a:prstGeom>
          <a:solidFill>
            <a:srgbClr val="1F2A44"/>
          </a:solidFill>
          <a:ln w="13970">
            <a:solidFill>
              <a:srgbClr val="2FE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41148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AI providers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39712" y="4398264"/>
            <a:ext cx="1819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Groq commands, optional OpenAI transcription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9400032" y="2743200"/>
            <a:ext cx="1993392" cy="868680"/>
          </a:xfrm>
          <a:prstGeom prst="roundRect">
            <a:avLst>
              <a:gd name="adj" fmla="val 5263"/>
            </a:avLst>
          </a:prstGeom>
          <a:solidFill>
            <a:srgbClr val="1F2A44"/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18904" y="2880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External actions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18904" y="3163824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Google Calendar, YouTube, desktop apps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2898648" y="2395728"/>
            <a:ext cx="704088" cy="603504"/>
          </a:xfrm>
          <a:prstGeom prst="line">
            <a:avLst/>
          </a:prstGeom>
          <a:noFill/>
          <a:ln w="15240">
            <a:solidFill>
              <a:srgbClr val="2FE7D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98648" y="4133088"/>
            <a:ext cx="704088" cy="-676656"/>
          </a:xfrm>
          <a:prstGeom prst="line">
            <a:avLst/>
          </a:prstGeom>
          <a:noFill/>
          <a:ln w="15240">
            <a:solidFill>
              <a:srgbClr val="2FE7D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98464" y="2907792"/>
            <a:ext cx="658368" cy="-969264"/>
          </a:xfrm>
          <a:prstGeom prst="line">
            <a:avLst/>
          </a:prstGeom>
          <a:noFill/>
          <a:ln w="15240">
            <a:solidFill>
              <a:srgbClr val="6FE68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98464" y="3063240"/>
            <a:ext cx="658368" cy="118872"/>
          </a:xfrm>
          <a:prstGeom prst="line">
            <a:avLst/>
          </a:prstGeom>
          <a:noFill/>
          <a:ln w="15240">
            <a:solidFill>
              <a:srgbClr val="4EA7F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98464" y="3401568"/>
            <a:ext cx="658368" cy="1005840"/>
          </a:xfrm>
          <a:prstGeom prst="line">
            <a:avLst/>
          </a:prstGeom>
          <a:noFill/>
          <a:ln w="15240">
            <a:solidFill>
              <a:srgbClr val="2FE7D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14816" y="3182112"/>
            <a:ext cx="512064" cy="0"/>
          </a:xfrm>
          <a:prstGeom prst="line">
            <a:avLst/>
          </a:prstGeom>
          <a:noFill/>
          <a:ln w="15240">
            <a:solidFill>
              <a:srgbClr val="FF6B6B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32688" y="55321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AAB6CC"/>
                </a:solidFill>
              </a:rPr>
              <a:t>Security boundary: provider secrets and Google tokens stay on the backend; the frontend receives user-safe state and action results.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short wake-to-action pipeline keeps voice commands responsive and recoverable.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5740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1F2A44"/>
          </a:solidFill>
          <a:ln w="13970">
            <a:solidFill>
              <a:srgbClr val="2FE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Wake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7802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Detect assistant name or manual mic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084832" y="2606040"/>
            <a:ext cx="36576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05456" y="205740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1F2A44"/>
          </a:solidFill>
          <a:ln w="13970">
            <a:solidFill>
              <a:srgbClr val="4EA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21945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Capture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24328" y="247802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Record speech and detect silence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931920" y="2606040"/>
            <a:ext cx="36576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52544" y="205740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1F2A44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1945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Transcribe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71416" y="247802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Browser speech or optional OpenAI audio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779008" y="2606040"/>
            <a:ext cx="36576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99632" y="205740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1F2A44"/>
          </a:solidFill>
          <a:ln w="13970">
            <a:solidFill>
              <a:srgbClr val="6FE6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21945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Classify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18504" y="247802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Groq maps text to command type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626096" y="2606040"/>
            <a:ext cx="36576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46720" y="205740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1F2A44"/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21945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Execute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65592" y="247802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Route to browser, media, app, calendar, or answer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9473184" y="2606040"/>
            <a:ext cx="36576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93808" y="205740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1F2A44"/>
          </a:solidFill>
          <a:ln w="13970">
            <a:solidFill>
              <a:srgbClr val="2FE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2680" y="21945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Respond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12680" y="247802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Speak result and update assistant state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987552" y="4096512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2FE7D0">
              <a:alpha val="14000"/>
            </a:srgbClr>
          </a:solidFill>
          <a:ln w="11430">
            <a:solidFill>
              <a:srgbClr val="2FE7D0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178808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E7D0"/>
                </a:solidFill>
              </a:rPr>
              <a:t>assistant name / hey assistant / ok assistant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86784" y="4096512"/>
            <a:ext cx="3749040" cy="310896"/>
          </a:xfrm>
          <a:prstGeom prst="roundRect">
            <a:avLst>
              <a:gd name="adj" fmla="val 17647"/>
            </a:avLst>
          </a:prstGeom>
          <a:solidFill>
            <a:srgbClr val="FFD166">
              <a:alpha val="14000"/>
            </a:srgbClr>
          </a:solidFill>
          <a:ln w="1143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96512" y="4178808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play perfect / open calculator / what is on my calendar today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973568" y="4096512"/>
            <a:ext cx="2578608" cy="310896"/>
          </a:xfrm>
          <a:prstGeom prst="roundRect">
            <a:avLst>
              <a:gd name="adj" fmla="val 17647"/>
            </a:avLst>
          </a:prstGeom>
          <a:solidFill>
            <a:srgbClr val="6FE68B">
              <a:alpha val="14000"/>
            </a:srgbClr>
          </a:solidFill>
          <a:ln w="11430">
            <a:solidFill>
              <a:srgbClr val="6FE68B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3296" y="4178808"/>
            <a:ext cx="2359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FE68B"/>
                </a:solidFill>
              </a:rPr>
              <a:t>pause / resume / next / sleep / cancel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50976" y="51389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AFF"/>
                </a:solidFill>
              </a:rPr>
              <a:t>Fallback design matters: if cloud transcription fails, the browser transcript can still continue the command path.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STATES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UI makes the assistant state visible so users know when to speak, wait, or interrupt.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987552" cy="987552"/>
          </a:xfrm>
          <a:prstGeom prst="ellipse">
            <a:avLst/>
          </a:prstGeom>
          <a:solidFill>
            <a:srgbClr val="33415F">
              <a:alpha val="55000"/>
            </a:srgbClr>
          </a:solidFill>
          <a:ln w="17780">
            <a:solidFill>
              <a:srgbClr val="334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Sleeping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578608" y="1920240"/>
            <a:ext cx="987552" cy="987552"/>
          </a:xfrm>
          <a:prstGeom prst="ellipse">
            <a:avLst/>
          </a:prstGeom>
          <a:solidFill>
            <a:srgbClr val="2FE7D0">
              <a:alpha val="80000"/>
            </a:srgbClr>
          </a:solidFill>
          <a:ln w="17780">
            <a:solidFill>
              <a:srgbClr val="2FE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Waking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242816" y="1920240"/>
            <a:ext cx="987552" cy="987552"/>
          </a:xfrm>
          <a:prstGeom prst="ellipse">
            <a:avLst/>
          </a:prstGeom>
          <a:solidFill>
            <a:srgbClr val="4EA7FF">
              <a:alpha val="80000"/>
            </a:srgbClr>
          </a:solidFill>
          <a:ln w="17780">
            <a:solidFill>
              <a:srgbClr val="4EA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4216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Listening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907024" y="1920240"/>
            <a:ext cx="987552" cy="987552"/>
          </a:xfrm>
          <a:prstGeom prst="ellipse">
            <a:avLst/>
          </a:prstGeom>
          <a:solidFill>
            <a:srgbClr val="FFD166">
              <a:alpha val="80000"/>
            </a:srgbClr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78424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Thinking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571232" y="1920240"/>
            <a:ext cx="987552" cy="987552"/>
          </a:xfrm>
          <a:prstGeom prst="ellipse">
            <a:avLst/>
          </a:prstGeom>
          <a:solidFill>
            <a:srgbClr val="6FE68B">
              <a:alpha val="80000"/>
            </a:srgbClr>
          </a:solidFill>
          <a:ln w="17780">
            <a:solidFill>
              <a:srgbClr val="6FE6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Speaking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235440" y="1920240"/>
            <a:ext cx="987552" cy="987552"/>
          </a:xfrm>
          <a:prstGeom prst="ellipse">
            <a:avLst/>
          </a:prstGeom>
          <a:solidFill>
            <a:srgbClr val="AAB6CC">
              <a:alpha val="80000"/>
            </a:srgbClr>
          </a:solidFill>
          <a:ln w="17780">
            <a:solidFill>
              <a:srgbClr val="AAB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Idle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04672" y="4041648"/>
            <a:ext cx="3337560" cy="1207008"/>
          </a:xfrm>
          <a:prstGeom prst="roundRect">
            <a:avLst>
              <a:gd name="adj" fmla="val 4545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041648"/>
            <a:ext cx="64008" cy="1207008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22452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Home screen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526280"/>
            <a:ext cx="29535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Assistant avatar/orb, latest message, visualizer, status, sleep, mic, customization, logout, typed command input.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43984" y="4041648"/>
            <a:ext cx="3337560" cy="1207008"/>
          </a:xfrm>
          <a:prstGeom prst="roundRect">
            <a:avLst>
              <a:gd name="adj" fmla="val 4545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43984" y="4041648"/>
            <a:ext cx="64008" cy="1207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422452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5152" y="4526280"/>
            <a:ext cx="29535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Sign up, sign in, current-user loading, protected assistant routes, secure logout through JWT cookies.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083296" y="4041648"/>
            <a:ext cx="3337560" cy="1207008"/>
          </a:xfrm>
          <a:prstGeom prst="roundRect">
            <a:avLst>
              <a:gd name="adj" fmla="val 4545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4041648"/>
            <a:ext cx="64008" cy="1207008"/>
          </a:xfrm>
          <a:prstGeom prst="rect">
            <a:avLst/>
          </a:prstGeom>
          <a:solidFill>
            <a:srgbClr val="6FE68B"/>
          </a:solidFill>
          <a:ln w="12700">
            <a:solidFill>
              <a:srgbClr val="6FE6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4464" y="422452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Customization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84464" y="4526280"/>
            <a:ext cx="29535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Choose built-in avatars, upload a custom image to Cloudinary, and set the assistant name used as wake word.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 EXTENSION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 Calendar turns the assistant from a responder into a trusted scheduler.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2880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1F2A44"/>
          </a:solidFill>
          <a:ln w="13970">
            <a:solidFill>
              <a:srgbClr val="2FE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659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Connect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249424"/>
            <a:ext cx="1591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OAuth URL, consent, callback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971800" y="1828800"/>
            <a:ext cx="1874520" cy="960120"/>
          </a:xfrm>
          <a:prstGeom prst="roundRect">
            <a:avLst>
              <a:gd name="adj" fmla="val 4762"/>
            </a:avLst>
          </a:prstGeom>
          <a:solidFill>
            <a:srgbClr val="1F2A44"/>
          </a:solidFill>
          <a:ln w="13970">
            <a:solidFill>
              <a:srgbClr val="4EA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96596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Protect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90672" y="2249424"/>
            <a:ext cx="1636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Store tokens backend-side and encrypt them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5166360" y="1828800"/>
            <a:ext cx="1874520" cy="960120"/>
          </a:xfrm>
          <a:prstGeom prst="roundRect">
            <a:avLst>
              <a:gd name="adj" fmla="val 4762"/>
            </a:avLst>
          </a:prstGeom>
          <a:solidFill>
            <a:srgbClr val="1F2A44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96596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Understand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85232" y="2249424"/>
            <a:ext cx="1636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Parse natural dates and calendar intent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360920" y="1828800"/>
            <a:ext cx="1874520" cy="960120"/>
          </a:xfrm>
          <a:prstGeom prst="roundRect">
            <a:avLst>
              <a:gd name="adj" fmla="val 4762"/>
            </a:avLst>
          </a:prstGeom>
          <a:solidFill>
            <a:srgbClr val="1F2A44"/>
          </a:solidFill>
          <a:ln w="13970">
            <a:solidFill>
              <a:srgbClr val="6FE6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196596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Confirm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79792" y="2249424"/>
            <a:ext cx="1636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Ask before create, update, delete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9555480" y="1828800"/>
            <a:ext cx="1874520" cy="960120"/>
          </a:xfrm>
          <a:prstGeom prst="roundRect">
            <a:avLst>
              <a:gd name="adj" fmla="val 4762"/>
            </a:avLst>
          </a:prstGeom>
          <a:solidFill>
            <a:srgbClr val="1F2A44"/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96596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74352" y="2249424"/>
            <a:ext cx="16367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AB6CC"/>
                </a:solidFill>
              </a:rPr>
              <a:t>Events, reminders, birthdays, search, free/busy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2706624" y="2304288"/>
            <a:ext cx="22860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55464" y="2304288"/>
            <a:ext cx="22860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50024" y="2304288"/>
            <a:ext cx="22860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44584" y="2304288"/>
            <a:ext cx="228600" cy="0"/>
          </a:xfrm>
          <a:prstGeom prst="line">
            <a:avLst/>
          </a:prstGeom>
          <a:noFill/>
          <a:ln w="15240">
            <a:solidFill>
              <a:srgbClr val="33415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" y="3840480"/>
            <a:ext cx="4663440" cy="1225296"/>
          </a:xfrm>
          <a:prstGeom prst="roundRect">
            <a:avLst>
              <a:gd name="adj" fmla="val 447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3840480"/>
            <a:ext cx="64008" cy="1225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4023360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Supported asks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5568" y="4325112"/>
            <a:ext cx="42793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Today's schedule, this week's meetings, next event, event search, free/busy checks, recurring reminders, birthday events, and Google Meet links.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400800" y="3840480"/>
            <a:ext cx="4663440" cy="1225296"/>
          </a:xfrm>
          <a:prstGeom prst="roundRect">
            <a:avLst>
              <a:gd name="adj" fmla="val 4478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3840480"/>
            <a:ext cx="64008" cy="1225296"/>
          </a:xfrm>
          <a:prstGeom prst="rect">
            <a:avLst/>
          </a:prstGeom>
          <a:solidFill>
            <a:srgbClr val="6FE68B"/>
          </a:solidFill>
          <a:ln w="12700">
            <a:solidFill>
              <a:srgbClr val="6FE6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4023360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Safety rule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01968" y="4325112"/>
            <a:ext cx="42793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Create, update, and delete actions are prepared first, then committed only after the user confirms the assistant's understanding.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PROOF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codebase is organized around service boundaries that match the product behavior.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4800600" cy="841248"/>
          </a:xfrm>
          <a:prstGeom prst="roundRect">
            <a:avLst>
              <a:gd name="adj" fmla="val 6522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37360"/>
            <a:ext cx="64008" cy="841248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920240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2221992"/>
            <a:ext cx="4416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React 19, Vite, Tailwind CSS, Framer Motion, Lucide React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4800600" cy="841248"/>
          </a:xfrm>
          <a:prstGeom prst="roundRect">
            <a:avLst>
              <a:gd name="adj" fmla="val 6522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971800"/>
            <a:ext cx="64008" cy="841248"/>
          </a:xfrm>
          <a:prstGeom prst="rect">
            <a:avLst/>
          </a:prstGeom>
          <a:solidFill>
            <a:srgbClr val="4EA7FF"/>
          </a:solidFill>
          <a:ln w="12700">
            <a:solidFill>
              <a:srgbClr val="4EA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154680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Voice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3456432"/>
            <a:ext cx="4416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Web Speech API, SpeechSynthesis, optional Vosk and Porcupine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4800600" cy="841248"/>
          </a:xfrm>
          <a:prstGeom prst="roundRect">
            <a:avLst>
              <a:gd name="adj" fmla="val 6522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206240"/>
            <a:ext cx="64008" cy="8412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389120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State and 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4690872"/>
            <a:ext cx="4416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AssistantContext, UserContext, hooks, pages, components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492240" y="1737360"/>
            <a:ext cx="4800600" cy="841248"/>
          </a:xfrm>
          <a:prstGeom prst="roundRect">
            <a:avLst>
              <a:gd name="adj" fmla="val 6522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737360"/>
            <a:ext cx="64008" cy="841248"/>
          </a:xfrm>
          <a:prstGeom prst="rect">
            <a:avLst/>
          </a:prstGeom>
          <a:solidFill>
            <a:srgbClr val="6FE68B"/>
          </a:solidFill>
          <a:ln w="12700">
            <a:solidFill>
              <a:srgbClr val="6FE6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1920240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Backend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2221992"/>
            <a:ext cx="4416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Node.js, Express 5, routes, controllers, services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92240" y="2971800"/>
            <a:ext cx="4800600" cy="841248"/>
          </a:xfrm>
          <a:prstGeom prst="roundRect">
            <a:avLst>
              <a:gd name="adj" fmla="val 6522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971800"/>
            <a:ext cx="64008" cy="841248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3154680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Data and identity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93408" y="3456432"/>
            <a:ext cx="4416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MongoDB Atlas, Mongoose, JWT, bcrypt, Cloudinary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492240" y="4206240"/>
            <a:ext cx="4800600" cy="841248"/>
          </a:xfrm>
          <a:prstGeom prst="roundRect">
            <a:avLst>
              <a:gd name="adj" fmla="val 6522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206240"/>
            <a:ext cx="64008" cy="8412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4389120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Automation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93408" y="4690872"/>
            <a:ext cx="4416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Puppeteer, desktop launch routes, Google APIs, chrono-node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14400" y="55138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6CC"/>
                </a:solidFill>
              </a:rPr>
              <a:t>Representative files: Home.jsx, commandProcessor.js, useSpeechRecognition.js, user.controllers.js, googleCalendarService.js, dateParser.js.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E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lift is reliability: harden integrations, close feature gaps, and improve observability.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83112" y="6364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6CC"/>
                </a:solidFill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7620">
            <a:solidFill>
              <a:srgbClr val="3341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74520"/>
            <a:ext cx="2971800" cy="2148840"/>
          </a:xfrm>
          <a:prstGeom prst="roundRect">
            <a:avLst>
              <a:gd name="adj" fmla="val 2553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74520"/>
            <a:ext cx="64008" cy="2148840"/>
          </a:xfrm>
          <a:prstGeom prst="rect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057400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Short term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359152"/>
            <a:ext cx="2587752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Polish command fallback messages, complete email handling, improve weather with a dedicated API.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2971800" cy="2148840"/>
          </a:xfrm>
          <a:prstGeom prst="roundRect">
            <a:avLst>
              <a:gd name="adj" fmla="val 2553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874520"/>
            <a:ext cx="64008" cy="2148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2057400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Medium term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359152"/>
            <a:ext cx="2587752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Add test coverage for calendar parsing, command classification, auth flows, and speech fallbacks.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321040" y="1874520"/>
            <a:ext cx="2971800" cy="2148840"/>
          </a:xfrm>
          <a:prstGeom prst="roundRect">
            <a:avLst>
              <a:gd name="adj" fmla="val 2553"/>
            </a:avLst>
          </a:prstGeom>
          <a:solidFill>
            <a:srgbClr val="151E33"/>
          </a:solidFill>
          <a:ln w="11430">
            <a:solidFill>
              <a:srgbClr val="3341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874520"/>
            <a:ext cx="64008" cy="2148840"/>
          </a:xfrm>
          <a:prstGeom prst="rect">
            <a:avLst/>
          </a:prstGeom>
          <a:solidFill>
            <a:srgbClr val="6FE68B"/>
          </a:solidFill>
          <a:ln w="12700">
            <a:solidFill>
              <a:srgbClr val="6FE6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2057400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AFF"/>
                </a:solidFill>
              </a:rPr>
              <a:t>Long term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22208" y="2359152"/>
            <a:ext cx="2587752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CC"/>
                </a:solidFill>
              </a:rPr>
              <a:t>Package desktop automation more safely, add analytics for command success, and expand multilingual support.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078992" y="4828032"/>
            <a:ext cx="9966960" cy="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690872"/>
            <a:ext cx="274320" cy="274320"/>
          </a:xfrm>
          <a:prstGeom prst="ellipse">
            <a:avLst/>
          </a:prstGeom>
          <a:solidFill>
            <a:srgbClr val="2FE7D0"/>
          </a:solidFill>
          <a:ln w="12700">
            <a:solidFill>
              <a:srgbClr val="2FE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5102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F"/>
                </a:solidFill>
              </a:rPr>
              <a:t>Demo ready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15000" y="4690872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5102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F"/>
                </a:solidFill>
              </a:rPr>
              <a:t>Integration ready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424160" y="4690872"/>
            <a:ext cx="274320" cy="274320"/>
          </a:xfrm>
          <a:prstGeom prst="ellipse">
            <a:avLst/>
          </a:prstGeom>
          <a:solidFill>
            <a:srgbClr val="6FE68B"/>
          </a:solidFill>
          <a:ln w="12700">
            <a:solidFill>
              <a:srgbClr val="6FE6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5102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F"/>
                </a:solidFill>
              </a:rPr>
              <a:t>Production ready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7FAFF"/>
                </a:solidFill>
              </a:rPr>
              <a:t>Closing claim: Virtual Assistant is already a full-stack, voice-first productivity system; the strongest next step is reliability engineering around the highest-value integrations.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Virtual Assistant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Assistant Project</dc:title>
  <dc:subject>Virtual Assistant project presentation</dc:subject>
  <dc:creator>Codex</dc:creator>
  <cp:lastModifiedBy>Codex</cp:lastModifiedBy>
  <cp:revision>1</cp:revision>
  <dcterms:created xsi:type="dcterms:W3CDTF">2026-06-10T18:39:53Z</dcterms:created>
  <dcterms:modified xsi:type="dcterms:W3CDTF">2026-06-10T18:39:53Z</dcterms:modified>
</cp:coreProperties>
</file>
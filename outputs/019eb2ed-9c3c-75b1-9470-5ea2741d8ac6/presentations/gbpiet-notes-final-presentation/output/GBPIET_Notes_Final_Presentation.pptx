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24d58f4d2a84bb8" /><Relationship Type="http://schemas.openxmlformats.org/officeDocument/2006/relationships/extended-properties" Target="/docProps/app.xml" Id="R4ee6dd49029d4b19" /><Relationship Type="http://schemas.openxmlformats.org/officeDocument/2006/relationships/officeDocument" Target="/ppt/presentation.xml" Id="R5aa16eb436274d6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1987fbffc554a1a"/>
  </p:sldMasterIdLst>
  <p:notesMasterIdLst>
    <p:notesMasterId xmlns:r="http://schemas.openxmlformats.org/officeDocument/2006/relationships" r:id="R3ca9a2c4fda74157"/>
  </p:notesMasterIdLst>
  <p:sldIdLst>
    <p:sldId xmlns:r="http://schemas.openxmlformats.org/officeDocument/2006/relationships" id="256" r:id="Re0ce86cb32734fab"/>
    <p:sldId xmlns:r="http://schemas.openxmlformats.org/officeDocument/2006/relationships" id="257" r:id="R7a972948f2e24ea0"/>
    <p:sldId xmlns:r="http://schemas.openxmlformats.org/officeDocument/2006/relationships" id="258" r:id="R231cf1375d284a2e"/>
    <p:sldId xmlns:r="http://schemas.openxmlformats.org/officeDocument/2006/relationships" id="259" r:id="Re08e51bc32a147d6"/>
    <p:sldId xmlns:r="http://schemas.openxmlformats.org/officeDocument/2006/relationships" id="260" r:id="R8b56f337e7514397"/>
    <p:sldId xmlns:r="http://schemas.openxmlformats.org/officeDocument/2006/relationships" id="261" r:id="R92c0a984792141a2"/>
    <p:sldId xmlns:r="http://schemas.openxmlformats.org/officeDocument/2006/relationships" id="262" r:id="R108f40bb56ac4bd1"/>
    <p:sldId xmlns:r="http://schemas.openxmlformats.org/officeDocument/2006/relationships" id="263" r:id="R989dc2a3b1e64787"/>
    <p:sldId xmlns:r="http://schemas.openxmlformats.org/officeDocument/2006/relationships" id="264" r:id="Rf1f2213093944995"/>
    <p:sldId xmlns:r="http://schemas.openxmlformats.org/officeDocument/2006/relationships" id="265" r:id="R25cbe5af910243ed"/>
    <p:sldId xmlns:r="http://schemas.openxmlformats.org/officeDocument/2006/relationships" id="266" r:id="R718b6a5121104918"/>
    <p:sldId xmlns:r="http://schemas.openxmlformats.org/officeDocument/2006/relationships" id="267" r:id="R6e4c115b51764d14"/>
    <p:sldId xmlns:r="http://schemas.openxmlformats.org/officeDocument/2006/relationships" id="268" r:id="R577b9d4bfdb24706"/>
    <p:sldId xmlns:r="http://schemas.openxmlformats.org/officeDocument/2006/relationships" id="269" r:id="Rcf0e4f4c15244f2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8a1c8c3408e4652" /><Relationship Type="http://schemas.openxmlformats.org/officeDocument/2006/relationships/slideMaster" Target="/ppt/slideMasters/slideMaster1.xml" Id="Rc1987fbffc554a1a" /><Relationship Type="http://schemas.openxmlformats.org/officeDocument/2006/relationships/notesMaster" Target="/ppt/notesMasters/notesMaster1.xml" Id="R3ca9a2c4fda74157" /><Relationship Type="http://schemas.openxmlformats.org/officeDocument/2006/relationships/presProps" Target="/ppt/presProps.xml" Id="R3f07cc68ddff4cd0" /><Relationship Type="http://schemas.openxmlformats.org/officeDocument/2006/relationships/viewProps" Target="/ppt/viewProps.xml" Id="Rf76d78c5d66c4ab0" /><Relationship Type="http://schemas.openxmlformats.org/officeDocument/2006/relationships/tableStyles" Target="/ppt/tableStyles.xml" Id="Rfbd6eb4b04d34eae" /><Relationship Type="http://schemas.openxmlformats.org/officeDocument/2006/relationships/slide" Target="/ppt/slides/slide1.xml" Id="Re0ce86cb32734fab" /><Relationship Type="http://schemas.openxmlformats.org/officeDocument/2006/relationships/slide" Target="/ppt/slides/slide2.xml" Id="R7a972948f2e24ea0" /><Relationship Type="http://schemas.openxmlformats.org/officeDocument/2006/relationships/slide" Target="/ppt/slides/slide3.xml" Id="R231cf1375d284a2e" /><Relationship Type="http://schemas.openxmlformats.org/officeDocument/2006/relationships/slide" Target="/ppt/slides/slide4.xml" Id="Re08e51bc32a147d6" /><Relationship Type="http://schemas.openxmlformats.org/officeDocument/2006/relationships/slide" Target="/ppt/slides/slide5.xml" Id="R8b56f337e7514397" /><Relationship Type="http://schemas.openxmlformats.org/officeDocument/2006/relationships/slide" Target="/ppt/slides/slide6.xml" Id="R92c0a984792141a2" /><Relationship Type="http://schemas.openxmlformats.org/officeDocument/2006/relationships/slide" Target="/ppt/slides/slide7.xml" Id="R108f40bb56ac4bd1" /><Relationship Type="http://schemas.openxmlformats.org/officeDocument/2006/relationships/slide" Target="/ppt/slides/slide8.xml" Id="R989dc2a3b1e64787" /><Relationship Type="http://schemas.openxmlformats.org/officeDocument/2006/relationships/slide" Target="/ppt/slides/slide9.xml" Id="Rf1f2213093944995" /><Relationship Type="http://schemas.openxmlformats.org/officeDocument/2006/relationships/slide" Target="/ppt/slides/slide10.xml" Id="R25cbe5af910243ed" /><Relationship Type="http://schemas.openxmlformats.org/officeDocument/2006/relationships/slide" Target="/ppt/slides/slide11.xml" Id="R718b6a5121104918" /><Relationship Type="http://schemas.openxmlformats.org/officeDocument/2006/relationships/slide" Target="/ppt/slides/slide12.xml" Id="R6e4c115b51764d14" /><Relationship Type="http://schemas.openxmlformats.org/officeDocument/2006/relationships/slide" Target="/ppt/slides/slide13.xml" Id="R577b9d4bfdb24706" /><Relationship Type="http://schemas.openxmlformats.org/officeDocument/2006/relationships/slide" Target="/ppt/slides/slide14.xml" Id="Rcf0e4f4c15244f2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7582bbc566843f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45618eaebe24677" /><Relationship Type="http://schemas.openxmlformats.org/officeDocument/2006/relationships/notesMaster" Target="/ppt/notesMasters/notesMaster1.xml" Id="Rab30ee6299e148b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8f08d25ad454e9b" /><Relationship Type="http://schemas.openxmlformats.org/officeDocument/2006/relationships/notesMaster" Target="/ppt/notesMasters/notesMaster1.xml" Id="R300bb75b32f04e0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e7c8a3c54cd4fb3" /><Relationship Type="http://schemas.openxmlformats.org/officeDocument/2006/relationships/notesMaster" Target="/ppt/notesMasters/notesMaster1.xml" Id="R130868fa0e8647e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a6288d633a743f5" /><Relationship Type="http://schemas.openxmlformats.org/officeDocument/2006/relationships/notesMaster" Target="/ppt/notesMasters/notesMaster1.xml" Id="R810bb4057c1d441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39a83b9149f4c7e" /><Relationship Type="http://schemas.openxmlformats.org/officeDocument/2006/relationships/notesMaster" Target="/ppt/notesMasters/notesMaster1.xml" Id="R2fb0ffb71fbd4a4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675ad6552a243f3" /><Relationship Type="http://schemas.openxmlformats.org/officeDocument/2006/relationships/notesMaster" Target="/ppt/notesMasters/notesMaster1.xml" Id="R18d9cec57e134e3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0d2e045004d47bf" /><Relationship Type="http://schemas.openxmlformats.org/officeDocument/2006/relationships/notesMaster" Target="/ppt/notesMasters/notesMaster1.xml" Id="R5f7e0fa4723d4a8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e1c42a0061b498b" /><Relationship Type="http://schemas.openxmlformats.org/officeDocument/2006/relationships/notesMaster" Target="/ppt/notesMasters/notesMaster1.xml" Id="R8fb86011e2ee4a8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8e7545e03824ebf" /><Relationship Type="http://schemas.openxmlformats.org/officeDocument/2006/relationships/notesMaster" Target="/ppt/notesMasters/notesMaster1.xml" Id="R4ddb6f103db8410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8f5295321d84585" /><Relationship Type="http://schemas.openxmlformats.org/officeDocument/2006/relationships/notesMaster" Target="/ppt/notesMasters/notesMaster1.xml" Id="R2c08260e94a4415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7db9d2f2cf848fa" /><Relationship Type="http://schemas.openxmlformats.org/officeDocument/2006/relationships/notesMaster" Target="/ppt/notesMasters/notesMaster1.xml" Id="R9c7f878d3cb344b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677e94316cc4030" /><Relationship Type="http://schemas.openxmlformats.org/officeDocument/2006/relationships/notesMaster" Target="/ppt/notesMasters/notesMaster1.xml" Id="R1064fbd545c4465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ffc3220f4824d0d" /><Relationship Type="http://schemas.openxmlformats.org/officeDocument/2006/relationships/notesMaster" Target="/ppt/notesMasters/notesMaster1.xml" Id="R1512268801104e5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b03c8b25a9e45d1" /><Relationship Type="http://schemas.openxmlformats.org/officeDocument/2006/relationships/notesMaster" Target="/ppt/notesMasters/notesMaster1.xml" Id="Rdcc012b9e4bd46c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e906d98af642c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966d5ecdd004445" /><Relationship Type="http://schemas.openxmlformats.org/officeDocument/2006/relationships/slideLayout" Target="/ppt/slideLayouts/slideLayout1.xml" Id="R22e144668ac0435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2e144668ac0435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b836382fd14873" /><Relationship Type="http://schemas.openxmlformats.org/officeDocument/2006/relationships/notesSlide" Target="/ppt/notesSlides/notesSlide1.xml" Id="R4458d6973ba94f4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450ef9faeb4cda" /><Relationship Type="http://schemas.openxmlformats.org/officeDocument/2006/relationships/notesSlide" Target="/ppt/notesSlides/notesSlide2.xml" Id="Ra71c9565f5ce475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a55f9afbc74f4f" /><Relationship Type="http://schemas.openxmlformats.org/officeDocument/2006/relationships/notesSlide" Target="/ppt/notesSlides/notesSlide3.xml" Id="R1b659b4921264f0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210c002557446d" /><Relationship Type="http://schemas.openxmlformats.org/officeDocument/2006/relationships/notesSlide" Target="/ppt/notesSlides/notesSlide4.xml" Id="Rd6aaf5db78d84f8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c72d05f2f7456b" /><Relationship Type="http://schemas.openxmlformats.org/officeDocument/2006/relationships/notesSlide" Target="/ppt/notesSlides/notesSlide5.xml" Id="R06d94d3f132d425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c7561717b14849" /><Relationship Type="http://schemas.openxmlformats.org/officeDocument/2006/relationships/notesSlide" Target="/ppt/notesSlides/notesSlide6.xml" Id="Rcede993e07794ea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3ced8c1a624ad3" /><Relationship Type="http://schemas.openxmlformats.org/officeDocument/2006/relationships/notesSlide" Target="/ppt/notesSlides/notesSlide7.xml" Id="Rbf171792dee0461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a14e47272943bd" /><Relationship Type="http://schemas.openxmlformats.org/officeDocument/2006/relationships/notesSlide" Target="/ppt/notesSlides/notesSlide8.xml" Id="Rb8c75490664c40c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47d13763804a02" /><Relationship Type="http://schemas.openxmlformats.org/officeDocument/2006/relationships/notesSlide" Target="/ppt/notesSlides/notesSlide9.xml" Id="Ref12a618b7c84a8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e6bff6cc53486d" /><Relationship Type="http://schemas.openxmlformats.org/officeDocument/2006/relationships/notesSlide" Target="/ppt/notesSlides/notesSlide10.xml" Id="Rd3fec52e9737458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8c7938de7f4c1e" /><Relationship Type="http://schemas.openxmlformats.org/officeDocument/2006/relationships/notesSlide" Target="/ppt/notesSlides/notesSlide11.xml" Id="Rd874c6e1cea3401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1ed10859c24305" /><Relationship Type="http://schemas.openxmlformats.org/officeDocument/2006/relationships/notesSlide" Target="/ppt/notesSlides/notesSlide12.xml" Id="Rcaf61033ab5e4ba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4bbf1246774518" /><Relationship Type="http://schemas.openxmlformats.org/officeDocument/2006/relationships/notesSlide" Target="/ppt/notesSlides/notesSlide13.xml" Id="R391d2fc55f0a481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b3acbc59f44dd9" /><Relationship Type="http://schemas.openxmlformats.org/officeDocument/2006/relationships/notesSlide" Target="/ppt/notesSlides/notesSlide14.xml" Id="Ra16bd18e6b9e4ae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7149263-10D3-4160-83EE-DCBABABAE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14213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7B4689-3E9D-41C4-899F-CD4FB5A19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14213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00B388-DBA7-4EDC-BE08-F998CC3C2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0"/>
            <a:ext cx="5029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91F95D-E3F7-4041-92BE-D57C9CB9A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876300"/>
            <a:ext cx="3238500" cy="3238500"/>
          </a:xfrm>
          <a:prstGeom xmlns:a="http://schemas.openxmlformats.org/drawingml/2006/main" prst="roundRect">
            <a:avLst>
              <a:gd name="adj" fmla="val 5294"/>
            </a:avLst>
          </a:prstGeom>
          <a:solidFill xmlns:a="http://schemas.openxmlformats.org/drawingml/2006/main">
            <a:srgbClr val="F8F3EA">
              <a:alpha val="13333"/>
            </a:srgbClr>
          </a:solidFill>
          <a:ln xmlns:a="http://schemas.openxmlformats.org/drawingml/2006/main" w="19050">
            <a:solidFill>
              <a:srgbClr val="F8F3EA">
                <a:alpha val="4000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8386AD-DB0C-4AEB-AC2F-F776DBA7D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18110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Platform map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9D0F77-F1A1-4B3D-AFBF-C1A134DB9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676400"/>
            <a:ext cx="236220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8F3EA"/>
          </a:solidFill>
          <a:ln xmlns:a="http://schemas.openxmlformats.org/drawingml/2006/main" w="0">
            <a:solidFill>
              <a:srgbClr val="F8F3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C138EE-2C80-49A5-88FB-DF0D39BDA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752600"/>
            <a:ext cx="95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Resources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1B9318-40A3-409B-9118-7572FC1E2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762125"/>
            <a:ext cx="1028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notes, PYQs, assignments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9F6B2A-03A7-40EB-A36C-30F43BF44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190750"/>
            <a:ext cx="236220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8F3EA"/>
          </a:solidFill>
          <a:ln xmlns:a="http://schemas.openxmlformats.org/drawingml/2006/main" w="0">
            <a:solidFill>
              <a:srgbClr val="F8F3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3E5D9D-78BA-4232-8BD4-EF3062921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66950"/>
            <a:ext cx="95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Community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228A28-53AB-4108-B190-778D26623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76475"/>
            <a:ext cx="1028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Q&amp;A, posts, follows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44EC42-508E-48BC-A1E5-D69B43533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705100"/>
            <a:ext cx="236220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8F3EA"/>
          </a:solidFill>
          <a:ln xmlns:a="http://schemas.openxmlformats.org/drawingml/2006/main" w="0">
            <a:solidFill>
              <a:srgbClr val="F8F3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2A1F4B-6357-484A-A94B-04219BF22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81300"/>
            <a:ext cx="95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Recognition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86FE98-80F1-4D00-9F00-B05E34EBD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790825"/>
            <a:ext cx="1028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credits, activity, leaderboard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A70CE6-58E4-42E7-9A65-39429216C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219450"/>
            <a:ext cx="236220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8F3EA"/>
          </a:solidFill>
          <a:ln xmlns:a="http://schemas.openxmlformats.org/drawingml/2006/main" w="0">
            <a:solidFill>
              <a:srgbClr val="F8F3E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788C29-156E-4D45-8B60-AE5C6B35F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295650"/>
            <a:ext cx="95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Assistance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4641B8-D80B-42AC-83D5-49DF47C78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305175"/>
            <a:ext cx="1028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Gemini-powered study chat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0391C3-D19C-4CAD-9D1F-7C36A3565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6286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GBPIET Notes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0BADB0-146C-4A41-8580-575CA50FD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85950"/>
            <a:ext cx="5715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BFD7D4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BFD7D4"/>
                </a:solidFill>
                <a:latin typeface="Aptos"/>
                <a:ea typeface="Aptos"/>
                <a:cs typeface="Aptos"/>
              </a:rPr>
              <a:t>College Community Web Application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14176AE-FD3B-4241-8B05-5884C3F91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56673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3EA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3EA"/>
                </a:solidFill>
                <a:latin typeface="Aptos"/>
                <a:ea typeface="Aptos"/>
                <a:cs typeface="Aptos"/>
              </a:rPr>
              <a:t>A centralized academic platform for notes, Q&amp;A, community interaction, contribution tracking, AI study support, and moderation.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2FC672-BFDF-4431-9DC1-4ED719DD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33875"/>
            <a:ext cx="9144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React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3D5E9B-6E72-4BBF-AFB5-81EBDAA5F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333875"/>
            <a:ext cx="10477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E7EEF0"/>
          </a:solidFill>
          <a:ln xmlns:a="http://schemas.openxmlformats.org/drawingml/2006/main" w="0">
            <a:solidFill>
              <a:srgbClr val="E7EEF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Node.js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C979F3-E2CD-44C0-A2F3-7EE8AD6C0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333875"/>
            <a:ext cx="12001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E7EEF0"/>
          </a:solidFill>
          <a:ln xmlns:a="http://schemas.openxmlformats.org/drawingml/2006/main" w="0">
            <a:solidFill>
              <a:srgbClr val="E7EEF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MongoDB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28EDF2-2331-496A-A87B-F64E3A39A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333875"/>
            <a:ext cx="13525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Gemini API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DFA6F71-2862-4D5B-9448-93C0AEF1B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33900"/>
            <a:ext cx="3238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Presented by</a:t>
            </a:r>
          </a:p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Saket Singh | Vaibhav Rawat | Yash Bhatt | Akshay Tomar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5ED1434-0F43-43FE-BBD6-9EA4682FE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572125"/>
            <a:ext cx="3429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7EEF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7EEF0"/>
                </a:solidFill>
                <a:latin typeface="Aptos"/>
                <a:ea typeface="Aptos"/>
                <a:cs typeface="Aptos"/>
              </a:rPr>
              <a:t>Guide: Dr. Papendra Kumar</a:t>
            </a:r>
          </a:p>
          <a:p xmlns:a="http://schemas.openxmlformats.org/drawingml/2006/main">
            <a:pPr algn="l">
              <a:defRPr sz="1050" b="0">
                <a:solidFill>
                  <a:srgbClr val="E7EEF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7EEF0"/>
                </a:solidFill>
                <a:latin typeface="Aptos"/>
                <a:ea typeface="Aptos"/>
                <a:cs typeface="Aptos"/>
              </a:rPr>
              <a:t>Department of Computer Science &amp; Engineering</a:t>
            </a:r>
          </a:p>
          <a:p xmlns:a="http://schemas.openxmlformats.org/drawingml/2006/main">
            <a:pPr algn="l">
              <a:defRPr sz="1050" b="0">
                <a:solidFill>
                  <a:srgbClr val="E7EEF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7EEF0"/>
                </a:solidFill>
                <a:latin typeface="Aptos"/>
                <a:ea typeface="Aptos"/>
                <a:cs typeface="Aptos"/>
              </a:rPr>
              <a:t>G.B. Pant Institute of Engineering and Technology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67A02D8-3BEF-4C6D-8E7D-B3A1A8108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BFD7D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BFD7D4"/>
                </a:solidFill>
                <a:latin typeface="Aptos"/>
                <a:ea typeface="Aptos"/>
                <a:cs typeface="Aptos"/>
              </a:rPr>
              <a:t>GBPIET Notes final project | 01</a:t>
            </a:r>
          </a:p>
        </p:txBody>
      </p:sp>
    </p:spTree>
    <p:extLst>
      <p:ext uri="{BB962C8B-B14F-4D97-AF65-F5344CB8AC3E}">
        <p14:creationId xmlns:p14="http://schemas.microsoft.com/office/powerpoint/2010/main" val="14952921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69EE2B3-4CF5-41D2-9263-9F572C554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3EA"/>
          </a:solidFill>
          <a:ln xmlns:a="http://schemas.openxmlformats.org/drawingml/2006/main" w="0">
            <a:solidFill>
              <a:srgbClr val="F8F3E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E62122-B915-4434-AAA5-69C37B0D5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C048B1-D463-4EDD-A0AB-4C4FC45B9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8572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Academic content exists, but it is scattered across temporary channels.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F2546D-4F00-4A72-B00E-F7C05D751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95500"/>
            <a:ext cx="2857500" cy="990600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1D27D8-BBDD-44E2-AAC5-2B8F57018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95500"/>
            <a:ext cx="6667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59997B-35EE-4C24-AF46-2E1B0C29B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28850"/>
            <a:ext cx="2571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Messaging groups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AAD88E-F14C-42D5-B5E9-FC3034552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05075"/>
            <a:ext cx="257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Notes and PYQs get buried in long chat histories.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B176E4-CE19-44AF-B9F7-CA3ACD99E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2857500" cy="990600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F2134E-4BDC-407C-A51E-CE948AFA7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6667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2E5051-9037-4EA1-BC16-3CC7C4050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62350"/>
            <a:ext cx="2571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Personal drives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A033E-BB5E-4B0A-B598-F9A61BC7D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38575"/>
            <a:ext cx="257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Useful files depend on individual links and access.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1287CB-9ADC-4156-8173-2D7EE5D04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095500"/>
            <a:ext cx="2857500" cy="990600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21FE2F-0F73-44A9-ACDF-BB0A83A9E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095500"/>
            <a:ext cx="6667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67DF22-9783-4F58-91B8-1E9F135FB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228850"/>
            <a:ext cx="2571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Repeated doubts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82BE84-4791-4FB1-B7E6-89B45A010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505075"/>
            <a:ext cx="257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Good answers disappear because chats are not searchable.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B98934-D554-4653-B386-88A3E51B7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429000"/>
            <a:ext cx="2857500" cy="990600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4249C2-1AB2-479A-88E6-21B00651D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429000"/>
            <a:ext cx="6667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14213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35CA0B-1006-42DE-9E80-790F92528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562350"/>
            <a:ext cx="2571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No recognition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A9E079-5595-4CB2-84E0-8225FBAE8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838575"/>
            <a:ext cx="257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Helpful contributors are hard to identify or follow.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D12AD2-E2A5-4005-9242-A45D281CA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590800"/>
            <a:ext cx="819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AB7BF"/>
          </a:solidFill>
          <a:ln xmlns:a="http://schemas.openxmlformats.org/drawingml/2006/main" w="0">
            <a:solidFill>
              <a:srgbClr val="AAB7B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209BB1-DC71-4A1A-BD86-5EECBA8F5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924300"/>
            <a:ext cx="819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AB7BF"/>
          </a:solidFill>
          <a:ln xmlns:a="http://schemas.openxmlformats.org/drawingml/2006/main" w="0">
            <a:solidFill>
              <a:srgbClr val="AAB7B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1D02FC-CB18-4131-BF51-7D999A440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590800"/>
            <a:ext cx="9048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AB7BF"/>
          </a:solidFill>
          <a:ln xmlns:a="http://schemas.openxmlformats.org/drawingml/2006/main" w="0">
            <a:solidFill>
              <a:srgbClr val="AAB7B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E0BDE6E-81BA-42B4-B1A7-C42CAF506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924300"/>
            <a:ext cx="9048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AB7BF"/>
          </a:solidFill>
          <a:ln xmlns:a="http://schemas.openxmlformats.org/drawingml/2006/main" w="0">
            <a:solidFill>
              <a:srgbClr val="AAB7B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7E439E-8CE9-4273-993E-B673027C2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14600"/>
            <a:ext cx="2419350" cy="1676400"/>
          </a:xfrm>
          <a:prstGeom xmlns:a="http://schemas.openxmlformats.org/drawingml/2006/main" prst="roundRect">
            <a:avLst>
              <a:gd name="adj" fmla="val 5682"/>
            </a:avLst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14213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90FBE4B-3313-4AEE-B8F0-002A11E73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857500"/>
            <a:ext cx="1847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Student friction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5E1AF2-D6EC-4DFE-86B2-85626A76F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333750"/>
            <a:ext cx="16954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BFD7D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BFD7D4"/>
                </a:solidFill>
                <a:latin typeface="Aptos"/>
                <a:ea typeface="Aptos"/>
                <a:cs typeface="Aptos"/>
              </a:rPr>
              <a:t>More time searching,</a:t>
            </a:r>
          </a:p>
          <a:p xmlns:a="http://schemas.openxmlformats.org/drawingml/2006/main">
            <a:pPr algn="ctr">
              <a:defRPr sz="1350" b="0">
                <a:solidFill>
                  <a:srgbClr val="BFD7D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BFD7D4"/>
                </a:solidFill>
                <a:latin typeface="Aptos"/>
                <a:ea typeface="Aptos"/>
                <a:cs typeface="Aptos"/>
              </a:rPr>
              <a:t>less time learning.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E7F7988-7702-461C-978E-F8BB5CD4B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GBPIET Notes final project | 02</a:t>
            </a:r>
          </a:p>
        </p:txBody>
      </p:sp>
    </p:spTree>
    <p:extLst>
      <p:ext uri="{BB962C8B-B14F-4D97-AF65-F5344CB8AC3E}">
        <p14:creationId xmlns:p14="http://schemas.microsoft.com/office/powerpoint/2010/main" val="148084302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F87DFB1-F775-44C0-90A5-6FA4A3263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3EA"/>
          </a:solidFill>
          <a:ln xmlns:a="http://schemas.openxmlformats.org/drawingml/2006/main" w="0">
            <a:solidFill>
              <a:srgbClr val="F8F3E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A90FB1-439E-4E36-9C8E-18CDD3D2B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OBJECTIVES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B281D6-47B8-48BA-9392-89BEE5C03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8572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The project objective is a complete academic collaboration ecosystem.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0CAAA3-42E3-40F2-A582-2373B1EE9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859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A95CD2-F2FC-4FF7-AA53-3EEBAC182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62150"/>
            <a:ext cx="400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24A708-D638-4323-89E5-664738C03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809750"/>
            <a:ext cx="8858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7DB574-C9A7-487E-A9E9-E441C0D57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198120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DFCCB5-0349-4F30-BAE9-728855AB7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114550"/>
            <a:ext cx="8515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Structured repository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EE8155-3C74-4567-ABF6-9E3232A3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457450"/>
            <a:ext cx="8515350" cy="-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Upload, organize, search, preview, download, and manage notes, assignments, tutorials, and PYQs.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AC62B8-3D74-456C-AA7B-E22B486B8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6700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943A91-75AE-4108-B6BD-4E7C57060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43200"/>
            <a:ext cx="400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E21F07-5B97-44F7-82F8-BA4BAE244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590800"/>
            <a:ext cx="8858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8379D0-3328-413E-ADF2-9A3C2ACF1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7622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419394-5600-4946-93F7-10F525438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95600"/>
            <a:ext cx="8515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Interactive Q&amp;A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74D8B4-52E1-463C-B0BC-6CA45045B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238500"/>
            <a:ext cx="8515350" cy="-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Students can post doubts, add tags/images, answer questions, and preserve solutions.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C8A7DF-24D8-4CFE-A23D-C3AAF26BC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480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A75D2F-0AF7-4130-8579-1D506E3D7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24250"/>
            <a:ext cx="400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ED5E5E-78B0-423A-BF3D-CB5A7A6C1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371850"/>
            <a:ext cx="8858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653E81-6F32-4719-A246-D5BB1F8E9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54330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94EF21-CA07-4D36-B954-12D05CCAF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676650"/>
            <a:ext cx="8515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Community engagement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977DC6-1D74-4210-83D8-C040B45BD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019550"/>
            <a:ext cx="8515350" cy="-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Profiles, follows, likes, comments, credits, leaderboards, and activity tracking motivate participation.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3D6C58-33C1-4AFA-886E-21B5C8F60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2910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14213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FC9F371-E62A-46EA-B581-31345C4B7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05300"/>
            <a:ext cx="400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516B10D-B8AD-40F6-A353-6C31C67A8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152900"/>
            <a:ext cx="8858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D0A2844-BE84-4BC2-A435-E65819F8F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3243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14213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71C0912-4D1D-4520-926A-35D0C34B3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457700"/>
            <a:ext cx="8515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AI study support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218D396-00CD-476E-AAEE-AA60F10A7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800600"/>
            <a:ext cx="8515350" cy="-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Gemini-powered assistant handles text, PDFs, handwritten notes, images, and academic queries.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B91B3A8-182B-4DED-8AE2-B8DF533DD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101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B8198E5-5F20-4689-B35F-47FA6DB92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86350"/>
            <a:ext cx="400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041935D-2D78-48B6-BB5D-AE7328F51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933950"/>
            <a:ext cx="8858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5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7222D47-98F6-4D79-8250-9A2626370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10540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529D32D-DA45-436E-89CB-5092A3BCF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238750"/>
            <a:ext cx="8515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Scalable foundation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D7FA0F0-5447-46CA-B96A-6010BF0AB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581650"/>
            <a:ext cx="8515350" cy="-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Architecture leaves room for notifications, recommendations, dashboards, and advanced AI retrieval.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72D7160-A320-4BFF-940C-DBA115A9A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2324100"/>
            <a:ext cx="190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8"/>
          </a:solidFill>
          <a:ln xmlns:a="http://schemas.openxmlformats.org/drawingml/2006/main" w="0">
            <a:solidFill>
              <a:srgbClr val="C9D3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E58EB1E-AB96-44FE-862F-B0585A830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GBPIET Notes final project | 03</a:t>
            </a:r>
          </a:p>
        </p:txBody>
      </p:sp>
    </p:spTree>
    <p:extLst>
      <p:ext uri="{BB962C8B-B14F-4D97-AF65-F5344CB8AC3E}">
        <p14:creationId xmlns:p14="http://schemas.microsoft.com/office/powerpoint/2010/main" val="98516014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84CB005-FE77-498A-94EB-8E5C81935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3EA"/>
          </a:solidFill>
          <a:ln xmlns:a="http://schemas.openxmlformats.org/drawingml/2006/main" w="0">
            <a:solidFill>
              <a:srgbClr val="F8F3E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9F4017-4909-452D-A55B-141F3E2C0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USERS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0DE14D-7C2D-44FF-8451-E78B2F730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8572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Role-aware journeys make the same platform useful for different college users.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D7B7B8-D5D5-4DFC-80D3-3CC453CF8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80975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STUDENTS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BAB6A7-7C29-4B94-8438-BDA757C24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90750"/>
            <a:ext cx="3143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C7CDD7-DA40-410E-BCE5-5490936F2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514600"/>
            <a:ext cx="20955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578A35-AC48-4C26-AB7B-E7BE2DC44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49555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Browse notes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B15594-66D8-4750-9102-3BACC4C7E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71775"/>
            <a:ext cx="19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DA"/>
          </a:solidFill>
          <a:ln xmlns:a="http://schemas.openxmlformats.org/drawingml/2006/main" w="0">
            <a:solidFill>
              <a:srgbClr val="CAD5D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3FD575-DE9F-4895-A593-BE21C87A5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162300"/>
            <a:ext cx="20955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96A29D-CE4B-4FAC-BCDF-2CFEF99DA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14325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Ask doubts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C65074-7208-4EC2-9882-E602C8756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419475"/>
            <a:ext cx="19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DA"/>
          </a:solidFill>
          <a:ln xmlns:a="http://schemas.openxmlformats.org/drawingml/2006/main" w="0">
            <a:solidFill>
              <a:srgbClr val="CAD5D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30C9CA-4491-4902-82B7-3405344F5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10000"/>
            <a:ext cx="20955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6E9BA6-8CA6-49C2-8020-CA737C2CE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79095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Follow contributors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DDE1DB-0DD2-4023-BCB1-2BB9CCEA6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067175"/>
            <a:ext cx="19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DA"/>
          </a:solidFill>
          <a:ln xmlns:a="http://schemas.openxmlformats.org/drawingml/2006/main" w="0">
            <a:solidFill>
              <a:srgbClr val="CAD5D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781A12-284D-452A-8A4E-97EA410DB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457700"/>
            <a:ext cx="20955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6C1DD3-1566-49B9-A081-A346BC1F5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43865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Use AI assistant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9CEF1C-10DD-4743-A07E-B744ADFDC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0975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FACULTY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CCDDFA-F00D-4981-AD4F-81C645055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190750"/>
            <a:ext cx="3143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2BB6EE-740C-4904-820D-FC15A6F41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514600"/>
            <a:ext cx="20955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104DED-B041-4291-888E-649E9C187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49555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Share resources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12F12C-3B8D-4A96-AC36-64813ED41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771775"/>
            <a:ext cx="19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DA"/>
          </a:solidFill>
          <a:ln xmlns:a="http://schemas.openxmlformats.org/drawingml/2006/main" w="0">
            <a:solidFill>
              <a:srgbClr val="CAD5D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86744B-F7C8-4984-9CD9-3003E2CC1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162300"/>
            <a:ext cx="20955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FCD3F0-D46B-4F1E-8CE7-69ABA6CF1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14325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Answer queries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0C2A8E-9E9E-4A6F-9AA0-802C736FA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419475"/>
            <a:ext cx="19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DA"/>
          </a:solidFill>
          <a:ln xmlns:a="http://schemas.openxmlformats.org/drawingml/2006/main" w="0">
            <a:solidFill>
              <a:srgbClr val="CAD5D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499614A-4E8C-4F74-851C-D646F88CB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810000"/>
            <a:ext cx="20955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28DC0CB-7665-4994-8789-4BAEDFDAD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79095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Guide discussions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BB2F19A-C63F-45E9-91A1-2558E916E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067175"/>
            <a:ext cx="19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DA"/>
          </a:solidFill>
          <a:ln xmlns:a="http://schemas.openxmlformats.org/drawingml/2006/main" w="0">
            <a:solidFill>
              <a:srgbClr val="CAD5D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8FA4094-91E0-4ECE-ACD4-0C9727603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457700"/>
            <a:ext cx="20955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7989A10-B643-4A0A-958E-42B720D2A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43865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Review content quality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06B30E4-DE97-4DF4-9DF6-EC90FE0DA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80975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76F5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E76F51"/>
                </a:solidFill>
                <a:latin typeface="Aptos"/>
                <a:ea typeface="Aptos"/>
                <a:cs typeface="Aptos"/>
              </a:rPr>
              <a:t>ADMINISTRATORS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C0FDDA7-9F66-441B-A1A6-1A80D217B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190750"/>
            <a:ext cx="3143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5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727FED2-D7E9-4235-AC21-9D4BC6E62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514600"/>
            <a:ext cx="20955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D3F71ED-0900-4EF8-AF93-BC30162E0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49555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Monitor reports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4300835-1AE1-4CAE-9E73-C58520ABB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771775"/>
            <a:ext cx="19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DA"/>
          </a:solidFill>
          <a:ln xmlns:a="http://schemas.openxmlformats.org/drawingml/2006/main" w="0">
            <a:solidFill>
              <a:srgbClr val="CAD5D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64DC472-9394-4080-A0CA-B423BAF28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162300"/>
            <a:ext cx="20955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943EB60-0206-4CB0-AFC8-59B0B871A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14325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Moderate users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B1E1F8F-7368-4E89-999D-22BF9B5B7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419475"/>
            <a:ext cx="19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DA"/>
          </a:solidFill>
          <a:ln xmlns:a="http://schemas.openxmlformats.org/drawingml/2006/main" w="0">
            <a:solidFill>
              <a:srgbClr val="CAD5DA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F9738BF-7171-4EB2-A223-BD5C1BE03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810000"/>
            <a:ext cx="20955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0E49055-8682-413A-84E2-D9B74C731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79095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Track activity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FA01CF9-39CE-4F69-815F-D0E35E764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067175"/>
            <a:ext cx="19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DA"/>
          </a:solidFill>
          <a:ln xmlns:a="http://schemas.openxmlformats.org/drawingml/2006/main" w="0">
            <a:solidFill>
              <a:srgbClr val="CAD5D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28B5846-BA93-44C1-8684-6913E61F9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457700"/>
            <a:ext cx="20955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422B80C-D0FB-407C-A54C-E0EADF2D6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43865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Prepare analytics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494812E-68FB-4890-9243-268134A2E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GBPIET Notes final project | 04</a:t>
            </a:r>
          </a:p>
        </p:txBody>
      </p:sp>
    </p:spTree>
    <p:extLst>
      <p:ext uri="{BB962C8B-B14F-4D97-AF65-F5344CB8AC3E}">
        <p14:creationId xmlns:p14="http://schemas.microsoft.com/office/powerpoint/2010/main" val="103373510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9DE51CA-DD44-4E7C-9D3B-3053B9861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3EA"/>
          </a:solidFill>
          <a:ln xmlns:a="http://schemas.openxmlformats.org/drawingml/2006/main" w="0">
            <a:solidFill>
              <a:srgbClr val="F8F3E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7B6CC4-5B5C-4611-B541-E9F9FDA6C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152F28-D2FF-480B-A985-4CEBC3B6B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8572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GBPIET Notes combines repository, discussion, social learning, and AI support.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E8551E-0402-4CED-994B-35E100E39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647950"/>
            <a:ext cx="26670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14213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AA46BB-7ECD-4A07-922D-E705AFF2D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876550"/>
            <a:ext cx="200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GBPIET</a:t>
            </a:r>
          </a:p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Notes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048C87-01A8-4F56-ABD5-1778A03C9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09750"/>
            <a:ext cx="30289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1CC641-1CDC-41F0-A39E-DB2523AA7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8120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3FC1DB-2C5D-4F11-9C76-561F959C6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1455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Notes Repository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955F33-7696-44CC-B11D-6EC0EA680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57450"/>
            <a:ext cx="2686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Upload, browse, preview, download, like, and comment on academic resources.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69990A-DFC7-4D63-9769-9EA9CB996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95750"/>
            <a:ext cx="30289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2101CB-3D2E-4D0A-8151-242EA5350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6720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C3D801-FC67-4ACA-9C45-A64B5D8FF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0055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Q&amp;A Community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6FC025-7FA7-4642-86CA-7BD3A6F05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43450"/>
            <a:ext cx="2686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Tagged doubts, answers, images, upvotes, and searchable knowledge retention.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615309-3CAA-4A27-A524-884F8E188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809750"/>
            <a:ext cx="30289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D54A36-36E9-440F-9E98-A8B76A000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98120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34B4A6-BA7B-4F74-A8DB-40158C10E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Profiles &amp; Follows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C8F63F-335E-4324-A229-93E2F0725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457450"/>
            <a:ext cx="2686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Academic identity, public contributions, skills, links, and follow networks.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CF5DDE-2316-4637-96EC-6B6D8B205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95750"/>
            <a:ext cx="30289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194C1C-D11A-492B-A103-8E05E304F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26720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14213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417347-99B0-49C3-ACFA-873A76309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40055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AI Assistant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81A921-4679-434D-9744-90DBEF9C5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743450"/>
            <a:ext cx="2686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Gemini-powered explanations with file and image support.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F345F6-C021-4640-AB22-4A62038CE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762500"/>
            <a:ext cx="30289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0903A4-F8EA-41E3-A6D3-2A9486BC5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9339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2D59E9E-1FA2-4D35-9A96-2941E3474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06730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Leaderboards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967FDB-E747-4316-932D-F751FBF55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410200"/>
            <a:ext cx="2686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Contribution analytics and recognition for active users.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5B7A7C-E32D-45C7-A1E6-DE5427A57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352550"/>
            <a:ext cx="30289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97A67E0-168D-44C7-B55B-ABD5BD359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52400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10DB172-9A74-4EC7-8430-4842EBB5C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65735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Moderation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A799C93-D71B-472C-B254-6AA3E64D9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000250"/>
            <a:ext cx="2686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Report/undo-report workflow keeps the platform accountable.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9173293-B2DE-4A2C-A685-7575334BD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GBPIET Notes final project | 05</a:t>
            </a:r>
          </a:p>
        </p:txBody>
      </p:sp>
    </p:spTree>
    <p:extLst>
      <p:ext uri="{BB962C8B-B14F-4D97-AF65-F5344CB8AC3E}">
        <p14:creationId xmlns:p14="http://schemas.microsoft.com/office/powerpoint/2010/main" val="75956565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E78F5D1-AA99-4FB5-B988-0F62C1E42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3EA"/>
          </a:solidFill>
          <a:ln xmlns:a="http://schemas.openxmlformats.org/drawingml/2006/main" w="0">
            <a:solidFill>
              <a:srgbClr val="F8F3E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3E9687-FA39-4C74-8998-87D56BE32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9CF71E-15B9-4543-8D4F-BF6D18E3B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8572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The system uses a clean client-server architecture with separate data, storage, and AI services.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C0ACA2-EA56-4ACE-9F0D-748D96DD7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95550"/>
            <a:ext cx="1809750" cy="87630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F63C56-E1EF-4A66-B9CB-E082DB51E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95550"/>
            <a:ext cx="666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960D7D-8B2B-4742-A978-485FAC3B4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289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Frontend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89C374-C5EB-455E-AA8F-FF6F2F837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05125"/>
            <a:ext cx="152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React, Vite, Tailwind, Router, Axios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4B5EA6-1DD5-4EEF-889F-CE0FB69D2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495550"/>
            <a:ext cx="1809750" cy="87630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4D6C22-2FD3-43FD-834A-8595D6CC7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495550"/>
            <a:ext cx="666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C3F30C-2915-4505-8B7F-7F9B07791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6289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API Layer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651312-DAF6-47F1-A421-B6489F14F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905125"/>
            <a:ext cx="152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Express routes, controllers, middleware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0871DE-5868-4C0A-A62A-B396EB201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495550"/>
            <a:ext cx="1809750" cy="87630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6ECE95-5ED0-44C2-8AD9-87B7BCC10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495550"/>
            <a:ext cx="666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053EA2-04C3-4C4D-96AA-D889AA430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6289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MongoDB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E0258A-00AC-48C8-9413-0975A4ED6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905125"/>
            <a:ext cx="152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Users, notes metadata, Q&amp;A, posts, reports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124AEC-EA95-402A-9A74-D41255F15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95550"/>
            <a:ext cx="1809750" cy="87630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3E6651-EB8F-406B-BBEC-275883DB7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95550"/>
            <a:ext cx="666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106744-3A37-4017-8857-351168C9A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6289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Supabase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F9EA44-2D58-4E7D-8C4B-58F37F815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905125"/>
            <a:ext cx="152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PDFs, images, uploaded academic files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646053-D382-4066-BD19-639893D46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114800"/>
            <a:ext cx="1809750" cy="87630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0A5D5DD-1ACF-4CFC-9BB5-50FEE1647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114800"/>
            <a:ext cx="666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14213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5863CF-7080-4B26-8906-12714B39C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24815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Gemini API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F20313-ED77-4AB1-9A9A-31340BE54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524375"/>
            <a:ext cx="152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Study assistant responses and file analysis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81AF1E1-FA34-41F2-B6A8-BF6CC68E0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933700"/>
            <a:ext cx="66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AB7BF"/>
          </a:solidFill>
          <a:ln xmlns:a="http://schemas.openxmlformats.org/drawingml/2006/main" w="0">
            <a:solidFill>
              <a:srgbClr val="AAB7B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22AF186-8D00-4359-8265-1EF0305E3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33700"/>
            <a:ext cx="66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AB7BF"/>
          </a:solidFill>
          <a:ln xmlns:a="http://schemas.openxmlformats.org/drawingml/2006/main" w="0">
            <a:solidFill>
              <a:srgbClr val="AAB7B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04E7EF7-8C47-4D4E-8ABA-B4C9CB667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933700"/>
            <a:ext cx="66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AB7BF"/>
          </a:solidFill>
          <a:ln xmlns:a="http://schemas.openxmlformats.org/drawingml/2006/main" w="0">
            <a:solidFill>
              <a:srgbClr val="AAB7B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01F95B8-345A-474B-B17F-053C18768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371850"/>
            <a:ext cx="190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AB7BF"/>
          </a:solidFill>
          <a:ln xmlns:a="http://schemas.openxmlformats.org/drawingml/2006/main" w="0">
            <a:solidFill>
              <a:srgbClr val="AAB7B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5041762-148E-410E-9537-9DA915739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543425"/>
            <a:ext cx="66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AB7BF"/>
          </a:solidFill>
          <a:ln xmlns:a="http://schemas.openxmlformats.org/drawingml/2006/main" w="0">
            <a:solidFill>
              <a:srgbClr val="AAB7B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6DFD965-906A-4215-A09A-0E3E145A5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762500"/>
            <a:ext cx="27813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14213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HTTP-only cookies + JWT sessions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6398F33-6C08-46C3-AE12-54A1D55F1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762500"/>
            <a:ext cx="27813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E7EEF0"/>
          </a:solidFill>
          <a:ln xmlns:a="http://schemas.openxmlformats.org/drawingml/2006/main" w="0">
            <a:solidFill>
              <a:srgbClr val="E7EEF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Google OAuth profile completion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173E74D-F4A4-400B-A442-801D6B038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762500"/>
            <a:ext cx="22098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E7EEF0"/>
          </a:solidFill>
          <a:ln xmlns:a="http://schemas.openxmlformats.org/drawingml/2006/main" w="0">
            <a:solidFill>
              <a:srgbClr val="E7EEF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REST-style route groups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45E197F-5D65-43D8-9897-218ACD9F4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GBPIET Notes final project | 06</a:t>
            </a:r>
          </a:p>
        </p:txBody>
      </p:sp>
    </p:spTree>
    <p:extLst>
      <p:ext uri="{BB962C8B-B14F-4D97-AF65-F5344CB8AC3E}">
        <p14:creationId xmlns:p14="http://schemas.microsoft.com/office/powerpoint/2010/main" val="116930474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DEEB3B7-0B9F-49D7-8A6F-B7553CB49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3EA"/>
          </a:solidFill>
          <a:ln xmlns:a="http://schemas.openxmlformats.org/drawingml/2006/main" w="0">
            <a:solidFill>
              <a:srgbClr val="F8F3E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87D080-AF90-4357-922D-EAD22440C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DATA 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9D3BCB-516B-4DE4-AF7D-0D24EDFDC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8572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The data model connects users to resources, discussions, activity, and moderation.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E1AB0B-7555-40A8-BC55-F66523FA9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809750"/>
            <a:ext cx="2190750" cy="87630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3B6635-6148-4A4B-ADD1-309326587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809750"/>
            <a:ext cx="666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14213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743E2F-8606-4361-AA00-7375EF5C1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1943100"/>
            <a:ext cx="1905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User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171B2C-4BFF-433E-A218-95C06471F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219325"/>
            <a:ext cx="1905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role, branch, year, profile, skills, links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499B33-8E6D-4838-9D27-22DF39E5F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800350"/>
            <a:ext cx="2000250" cy="81915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D1E5CF-E5BA-47E6-830C-B8EEEAE67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800350"/>
            <a:ext cx="6667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5683A0-9B27-4D76-880E-9B9223C13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93370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Note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AB9BFA-0AD4-4FB6-BB63-D90509666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209925"/>
            <a:ext cx="1714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metadata + Supabase file URL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1CCA4B-F421-4804-A169-EA7B0722E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790950"/>
            <a:ext cx="2000250" cy="81915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1AA6BC-297B-487E-B071-D42C2E63F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790950"/>
            <a:ext cx="6667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109D4C-7D31-4F8E-ABF2-F9C952A3F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92430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Question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1123F1-8612-4EC0-803F-9AAC32AAB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200525"/>
            <a:ext cx="1714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title, tags, optional images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6ECD12-F0D4-469F-9C88-26907E4CB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90950"/>
            <a:ext cx="2000250" cy="81915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ACFF96-9B64-4019-B2F6-819D72877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90950"/>
            <a:ext cx="6667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83190A-9544-4273-A17C-6D3BBC0AC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92430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Answer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A23B0D-8C6D-471A-9DB6-8A4288221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200525"/>
            <a:ext cx="1714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responses, images, likes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63BB19-B282-4222-BAB1-33F93665B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800350"/>
            <a:ext cx="2000250" cy="81915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8E8B78-9122-4370-ACD5-70EAFB26B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800350"/>
            <a:ext cx="6667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85C6D1-1D0D-45B1-A937-F089395FE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93370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Post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06C966-AFD1-47CC-8BD8-04BAED98A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209925"/>
            <a:ext cx="1714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community text/images/comments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3E0A04D-5E58-41B1-AAA7-870E7B5EC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790700"/>
            <a:ext cx="2000250" cy="81915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23BD6B0-BFBA-4591-9A08-6C33DF3AE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790700"/>
            <a:ext cx="6667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CE9450D-D907-44CA-B919-5505872D3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92405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Follow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4DDBDB4-71FC-4ABD-8B7E-35CD77293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200275"/>
            <a:ext cx="1714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academic network graph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39FE3E9-155C-4FE1-8BC6-C90D97CAF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790700"/>
            <a:ext cx="2000250" cy="81915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D43A3F5-72A9-406C-801A-DEC5B27F1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790700"/>
            <a:ext cx="6667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93C42B6-F17E-4131-857A-637F420BE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92405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Report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1993900-AAFE-4E64-BA2F-E3BF76416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200275"/>
            <a:ext cx="1714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moderation signal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BF2FACF-9EF1-4C49-8B02-91480D4AB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1314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AB7BF"/>
          </a:solidFill>
          <a:ln xmlns:a="http://schemas.openxmlformats.org/drawingml/2006/main" w="0">
            <a:solidFill>
              <a:srgbClr val="AAB7B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A5D5247-35BE-4D53-8D1B-94F428A81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190750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AB7BF"/>
          </a:solidFill>
          <a:ln xmlns:a="http://schemas.openxmlformats.org/drawingml/2006/main" w="0">
            <a:solidFill>
              <a:srgbClr val="AAB7B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8DD20C0-9D97-4EE0-B020-7B83F82A6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219450"/>
            <a:ext cx="1504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AB7BF"/>
          </a:solidFill>
          <a:ln xmlns:a="http://schemas.openxmlformats.org/drawingml/2006/main" w="0">
            <a:solidFill>
              <a:srgbClr val="AAB7B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B212D99-A7C8-4DC5-8640-E4888AB1A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219450"/>
            <a:ext cx="1314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AB7BF"/>
          </a:solidFill>
          <a:ln xmlns:a="http://schemas.openxmlformats.org/drawingml/2006/main" w="0">
            <a:solidFill>
              <a:srgbClr val="AAB7B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B6EE49A-7720-402E-A6AA-11B2D8FC1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1719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AB7BF"/>
          </a:solidFill>
          <a:ln xmlns:a="http://schemas.openxmlformats.org/drawingml/2006/main" w="0">
            <a:solidFill>
              <a:srgbClr val="AAB7B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A0AF830-D061-4D50-B932-2DF94459C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1719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AB7BF"/>
          </a:solidFill>
          <a:ln xmlns:a="http://schemas.openxmlformats.org/drawingml/2006/main" w="0">
            <a:solidFill>
              <a:srgbClr val="AAB7B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90F1DD0-1E50-4911-9531-E15ED2B28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667375"/>
            <a:ext cx="7524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MongoDB stores structured records; Supabase stores uploaded binaries; URLs connect the two.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465665A-D9B3-4CE5-B2E8-5BA18EFF0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GBPIET Notes final project | 07</a:t>
            </a:r>
          </a:p>
        </p:txBody>
      </p:sp>
    </p:spTree>
    <p:extLst>
      <p:ext uri="{BB962C8B-B14F-4D97-AF65-F5344CB8AC3E}">
        <p14:creationId xmlns:p14="http://schemas.microsoft.com/office/powerpoint/2010/main" val="7136354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E59D490-1CB6-4488-BC89-147035267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3EA"/>
          </a:solidFill>
          <a:ln xmlns:a="http://schemas.openxmlformats.org/drawingml/2006/main" w="0">
            <a:solidFill>
              <a:srgbClr val="F8F3E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E5398E-8951-46FA-AB96-29B1436AE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IMPLEMENTATION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72D63E-1D44-4F94-BD64-0C8CBD51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8572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Each module is independently implemented but shares authentication, API, and storage services.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88F88D-37A4-41B9-A7E3-C953EA004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Module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4C6089-0157-4FFD-BC11-8E863D033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714500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Implemented capabilities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F6689-E118-41A2-98F9-51970A3FF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714500"/>
            <a:ext cx="409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Key backend/frontend concerns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4C46AB-A60A-4DB5-A8BB-0626EC5B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38350"/>
            <a:ext cx="10477500" cy="4953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EF4F3"/>
          </a:solidFill>
          <a:ln xmlns:a="http://schemas.openxmlformats.org/drawingml/2006/main" w="9525">
            <a:solidFill>
              <a:srgbClr val="D8E1E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86FC87-895D-4359-8EAC-FD4628F83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1714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Authentication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F4B854-38C7-4817-93D6-5654F9A14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114550"/>
            <a:ext cx="342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Email login, Google OAuth, profile completion, session restore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A25B61-B756-4193-96B6-BCB1442AF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14550"/>
            <a:ext cx="4095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bcrypt, JWT cookies, current-user endpoint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BDE052-4692-4366-8BC8-019B006B0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28900"/>
            <a:ext cx="10477500" cy="4953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B56CAD-D550-4D32-A113-E22749C3E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05100"/>
            <a:ext cx="1714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Notes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855AC1-DAB4-4D60-B927-12371A781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705100"/>
            <a:ext cx="342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Upload, list, detail, preview, open, download, like, comments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89E4A3-192F-4A25-943F-B847AC38E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705100"/>
            <a:ext cx="4095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multipart upload, Supabase storage, metadata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114D5B-DBA2-44F1-B6B6-CF68F9631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19450"/>
            <a:ext cx="10477500" cy="4953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EF4F3"/>
          </a:solidFill>
          <a:ln xmlns:a="http://schemas.openxmlformats.org/drawingml/2006/main" w="9525">
            <a:solidFill>
              <a:srgbClr val="D8E1E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B3EC5A-150E-4BA3-A976-417E14F7F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95650"/>
            <a:ext cx="1714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Q&amp;A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910E59-B178-449F-A1F4-8263196B0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295650"/>
            <a:ext cx="342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Questions, tags, images, answers, likes, liked-user modal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CA8C26-B6B7-4523-A975-7CA0DB095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295650"/>
            <a:ext cx="4095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route groups, answer controller, image arrays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A9A6D2-DE3D-47FC-9F49-75542DC4C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0"/>
            <a:ext cx="10477500" cy="4953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46D698-6069-43B7-B96D-A2B20BD6A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86200"/>
            <a:ext cx="1714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Community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D9F942-CB5D-4048-8843-2B0B780CA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886200"/>
            <a:ext cx="342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Posts, multiple images, carousel, comments, edit/delete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A2D721-EB62-46AE-B266-02B71D212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886200"/>
            <a:ext cx="4095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reusable UI patterns and ownership checks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E0AE3D-A471-41F7-A0D7-6AC5FCD3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00550"/>
            <a:ext cx="10477500" cy="4953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EF4F3"/>
          </a:solidFill>
          <a:ln xmlns:a="http://schemas.openxmlformats.org/drawingml/2006/main" w="9525">
            <a:solidFill>
              <a:srgbClr val="D8E1E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A172EC0-DE7D-4488-92B7-35365FD21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76750"/>
            <a:ext cx="1714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B1F3581-BB4C-4305-9735-6D025225B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476750"/>
            <a:ext cx="342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Avatar, cover, tabs, links, follow, report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B58983-865A-403E-92A1-570AFE1C6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476750"/>
            <a:ext cx="4095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cleanup during account deletion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256AA74-BD9C-4E80-ADED-49F59ABBB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91100"/>
            <a:ext cx="10477500" cy="4953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ED59687-6E2B-402A-8292-8862BE41E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67300"/>
            <a:ext cx="1714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AI Chatbot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D4B2075-D24E-4CAE-9B10-BE3FF096A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5067300"/>
            <a:ext cx="342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Streaming response, files, local history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D8A036A-D44A-4EBA-B1DD-27DC88548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067300"/>
            <a:ext cx="4095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Gemini API + lightweight retrieval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2E3A9F2-8312-4B6F-BB6B-28732BAD4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GBPIET Notes final project | 08</a:t>
            </a:r>
          </a:p>
        </p:txBody>
      </p:sp>
    </p:spTree>
    <p:extLst>
      <p:ext uri="{BB962C8B-B14F-4D97-AF65-F5344CB8AC3E}">
        <p14:creationId xmlns:p14="http://schemas.microsoft.com/office/powerpoint/2010/main" val="200557476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4752018-27F9-483B-9BCF-9DAE3BEDA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3EA"/>
          </a:solidFill>
          <a:ln xmlns:a="http://schemas.openxmlformats.org/drawingml/2006/main" w="0">
            <a:solidFill>
              <a:srgbClr val="F8F3E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CA0062-A9C9-44D5-9808-60A854EF0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CORE WORKFLOWS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296264-98BF-4BD8-A1CF-E7A123C0E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8572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The main workflows convert one-time sharing into reusable academic knowledge.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32A1B5-6B60-435B-A304-3749E9F7E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90700"/>
            <a:ext cx="2990850" cy="3714750"/>
          </a:xfrm>
          <a:prstGeom xmlns:a="http://schemas.openxmlformats.org/drawingml/2006/main" prst="roundRect">
            <a:avLst>
              <a:gd name="adj" fmla="val 25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899C1C-F33C-4D53-85A5-C0FB04963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621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55C341-004D-424B-8662-625B257A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95500"/>
            <a:ext cx="2647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Notes Upload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4EE705-C816-4C80-A76C-F6BDFC288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38400"/>
            <a:ext cx="264795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A4F565-A92A-422A-A2CE-DC9D171C7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57175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99F285-8FE3-4C4E-8019-F27A3E24E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6384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479860-05BB-4F0D-B32B-5D9605A64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590800"/>
            <a:ext cx="1809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Select file + metadata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881379-D6BD-4137-B45C-0F77272DB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933700"/>
            <a:ext cx="190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9DE"/>
          </a:solidFill>
          <a:ln xmlns:a="http://schemas.openxmlformats.org/drawingml/2006/main" w="0">
            <a:solidFill>
              <a:srgbClr val="CFD9D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9C8154-9953-4B9C-B88B-8E50B8492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2385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8601ED-F7E6-4819-8E92-5A1599FBD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30517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73D13B-4223-499A-89BF-10D1EBA2D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257550"/>
            <a:ext cx="1809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Backend uploads file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C1EF48-A091-4100-AFDE-547D5791C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600450"/>
            <a:ext cx="190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9DE"/>
          </a:solidFill>
          <a:ln xmlns:a="http://schemas.openxmlformats.org/drawingml/2006/main" w="0">
            <a:solidFill>
              <a:srgbClr val="CFD9D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B357B3-56F9-4DDC-A6BF-65FB0308B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90525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4FA92D-DB03-4151-A184-43F225244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9719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3DB607-DAF6-4F7F-8E08-D60777E69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924300"/>
            <a:ext cx="1809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MongoDB stores note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68E6B1-FB19-4229-9FC1-065781D75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67200"/>
            <a:ext cx="190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9DE"/>
          </a:solidFill>
          <a:ln xmlns:a="http://schemas.openxmlformats.org/drawingml/2006/main" w="0">
            <a:solidFill>
              <a:srgbClr val="CFD9D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00D184-8F18-485C-8149-8C36B4D62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720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5C74E5-BE14-469F-926D-0D0E60B18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63867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580FC5-6D55-41E6-9E29-4B94059F1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591050"/>
            <a:ext cx="1809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Appears in lists/profile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8A3724E-EC8B-4498-99ED-BB5B105C9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2990850" cy="3714750"/>
          </a:xfrm>
          <a:prstGeom xmlns:a="http://schemas.openxmlformats.org/drawingml/2006/main" prst="roundRect">
            <a:avLst>
              <a:gd name="adj" fmla="val 25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50D7E70-AC9B-48AF-B6F2-A80AE36D5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9621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1684594-A2A2-4134-8C7E-001CF561C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95500"/>
            <a:ext cx="2647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Q&amp;A Interaction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C58DB24-E0D3-497B-B807-0C94E0FEB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438400"/>
            <a:ext cx="264795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C0A00C3-C879-4373-9107-EE560CBB1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57175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C136629-3984-466A-864D-3F6D2A50F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6384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5E5765C-35C4-4082-B6B4-D4CCA2DC1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590800"/>
            <a:ext cx="1809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Ask tagged question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DB62396-8A34-4823-9E32-FCFFE4E30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933700"/>
            <a:ext cx="190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9DE"/>
          </a:solidFill>
          <a:ln xmlns:a="http://schemas.openxmlformats.org/drawingml/2006/main" w="0">
            <a:solidFill>
              <a:srgbClr val="CFD9D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DA2C9CF-063A-4413-878F-E35A2F60E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2385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FA2C6D0-8980-4444-9579-9C81306B6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30517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1FAF5A6-1CDA-43F6-9C3E-0CEB07831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257550"/>
            <a:ext cx="1809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Attach optional images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8BA7708-4A9C-4265-9695-6292D27DC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600450"/>
            <a:ext cx="190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9DE"/>
          </a:solidFill>
          <a:ln xmlns:a="http://schemas.openxmlformats.org/drawingml/2006/main" w="0">
            <a:solidFill>
              <a:srgbClr val="CFD9DE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BD33CE3-2A41-4ABE-BAE2-61FB4DC3F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90525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559599B-60CD-41F9-97B4-FE1487B2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9719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CDB581A-A7AB-4BA2-B957-9946B2304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924300"/>
            <a:ext cx="1809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Answer inside card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18FDF91-DE13-4CB6-BA80-E6AE65508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267200"/>
            <a:ext cx="190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9DE"/>
          </a:solidFill>
          <a:ln xmlns:a="http://schemas.openxmlformats.org/drawingml/2006/main" w="0">
            <a:solidFill>
              <a:srgbClr val="CFD9D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1F591A1-F475-4C04-A205-FBBDDC57A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5720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96CE579-716E-4C4A-9826-731C51288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63867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EAA61FF-0052-4C01-9605-E00C8C3D9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591050"/>
            <a:ext cx="1809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Like and revisit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56B44A8-5B77-4299-99EB-D8667B89B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790700"/>
            <a:ext cx="2990850" cy="3714750"/>
          </a:xfrm>
          <a:prstGeom xmlns:a="http://schemas.openxmlformats.org/drawingml/2006/main" prst="roundRect">
            <a:avLst>
              <a:gd name="adj" fmla="val 25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5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DD04AC3-AB78-481F-ABF6-9AB2E3A69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621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050C29A-ED39-4515-ABE7-902EB332D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095500"/>
            <a:ext cx="2647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Community Post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3FF34CB-94A5-47A2-9602-5B7CD6D9D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38400"/>
            <a:ext cx="264795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9E522B1-B09E-4A4D-8447-ECDA348D5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57175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E4DBD22-9FA3-4719-B6F2-A2AEE86A3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6384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C3E4626-11B7-43C2-92CF-3F8AC0456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590800"/>
            <a:ext cx="1809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Create text/images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E0C7997-2AE0-4A6F-98B2-DC0B24DDD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933700"/>
            <a:ext cx="190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9DE"/>
          </a:solidFill>
          <a:ln xmlns:a="http://schemas.openxmlformats.org/drawingml/2006/main" w="0">
            <a:solidFill>
              <a:srgbClr val="CFD9DE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B445093-1871-47EF-9BAE-AE7C13B1D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2385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6CCDDB0-1BE4-4349-BEC4-BA0083CA9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30517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0192843-6E07-4F2A-A69D-AAE4301C1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257550"/>
            <a:ext cx="1809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Comment and like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E9E5403-2250-4624-A270-F98C5EB8B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600450"/>
            <a:ext cx="190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9DE"/>
          </a:solidFill>
          <a:ln xmlns:a="http://schemas.openxmlformats.org/drawingml/2006/main" w="0">
            <a:solidFill>
              <a:srgbClr val="CFD9DE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9E4EE81-B829-4148-81E1-4A267A9C0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90525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31C7C28-F4E9-4827-9823-0EBA9B9DF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9719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3295E05-295E-4D44-95CE-07A38F30E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924300"/>
            <a:ext cx="1809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Follow contributor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31344A8-EA06-450A-8E4C-22AD48E9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267200"/>
            <a:ext cx="190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9DE"/>
          </a:solidFill>
          <a:ln xmlns:a="http://schemas.openxmlformats.org/drawingml/2006/main" w="0">
            <a:solidFill>
              <a:srgbClr val="CFD9DE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D8B5D60-2C92-4F03-9341-A0B134086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5720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D5C1A7E-01CC-443E-97C1-CA13D3D88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63867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4A8AFDE-EA13-443E-8F6A-CA96BBF99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591050"/>
            <a:ext cx="1809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Build reputation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7DC23CE-90BA-4F64-AB30-35D5D9BBD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GBPIET Notes final project | 09</a:t>
            </a:r>
          </a:p>
        </p:txBody>
      </p:sp>
    </p:spTree>
    <p:extLst>
      <p:ext uri="{BB962C8B-B14F-4D97-AF65-F5344CB8AC3E}">
        <p14:creationId xmlns:p14="http://schemas.microsoft.com/office/powerpoint/2010/main" val="184777426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B4851C9-8B0E-4F4F-807C-E47E2DF2E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3EA"/>
          </a:solidFill>
          <a:ln xmlns:a="http://schemas.openxmlformats.org/drawingml/2006/main" w="0">
            <a:solidFill>
              <a:srgbClr val="F8F3E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DA92BC-3121-47FB-851F-7C7268301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AI + SAFETY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DD398B-EE99-4EB5-9B65-ECAF64269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8572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AI assistance and moderation make the platform more useful and accountable.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DF9407-1D2B-4CB4-8776-642FD4249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0975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AI CHATBOT PROCESSING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415191-FB14-47CC-ADD9-7427FFA76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66950"/>
            <a:ext cx="1943100" cy="9144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999696-35A0-4D5E-8FBE-1899BFFEE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66950"/>
            <a:ext cx="666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41E9BB-9ABF-40EA-B19C-ED7ED248C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657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User prompt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3AD908-BCA0-4539-8903-968988666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765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text + optional files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C6DB10-EC34-41E1-B8E6-9558E83B7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266950"/>
            <a:ext cx="1943100" cy="9144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43FFC2-1807-4ADE-BEE1-CF4716175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266950"/>
            <a:ext cx="666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6E2814-9D9B-4705-B9C1-32B1533D2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400300"/>
            <a:ext cx="1657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Backend context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4AD3A6-EAFF-485E-B449-262B473A2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6765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history + retrieved project content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ED01AE-0989-4129-A458-FE146AC2D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266950"/>
            <a:ext cx="1943100" cy="9144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F3FA3E-D874-4AFF-8AB9-588816CD9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266950"/>
            <a:ext cx="666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9FCA5A-ECD3-46CC-9BE8-43408D734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400300"/>
            <a:ext cx="1657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Gemini API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394EB2-04FD-4659-A1D0-220C34E25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6765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response generation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10C729-3C89-422D-8244-9C6846D5E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266950"/>
            <a:ext cx="1943100" cy="9144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45C348-9C0F-4690-A9B5-2E8FE9A8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266950"/>
            <a:ext cx="666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AE9A00-77A5-4AE8-9BDC-34070E8F5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400300"/>
            <a:ext cx="1657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Streaming UI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49BFCF-73E6-485F-87D9-014DE0080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765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chunks saved in local history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456717-487C-46F3-B1A9-C179F1D75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724150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AB7BF"/>
          </a:solidFill>
          <a:ln xmlns:a="http://schemas.openxmlformats.org/drawingml/2006/main" w="0">
            <a:solidFill>
              <a:srgbClr val="AAB7B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507D81-9E40-4953-8BE3-F9A4099C9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724150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AB7BF"/>
          </a:solidFill>
          <a:ln xmlns:a="http://schemas.openxmlformats.org/drawingml/2006/main" w="0">
            <a:solidFill>
              <a:srgbClr val="AAB7B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10322A-79F9-4B72-BC71-CBF8ACFB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724150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AB7BF"/>
          </a:solidFill>
          <a:ln xmlns:a="http://schemas.openxmlformats.org/drawingml/2006/main" w="0">
            <a:solidFill>
              <a:srgbClr val="AAB7B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C1FC6E-00E0-4807-8E02-AFA8623D0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76F5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E76F51"/>
                </a:solidFill>
                <a:latin typeface="Aptos"/>
                <a:ea typeface="Aptos"/>
                <a:cs typeface="Aptos"/>
              </a:rPr>
              <a:t>REPORT MODERATION FLOW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E9A92EF-C179-433E-B85E-AFC249D55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05300"/>
            <a:ext cx="1943100" cy="9144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853C456-B635-4ED3-925A-3309E8F39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05300"/>
            <a:ext cx="666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F9F1578-1BFC-412C-B049-D51F44A29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38650"/>
            <a:ext cx="1657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Report user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7EB32DF-B045-4E8D-BE42-3BE9DB8A4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148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create report if none exists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8C0A3D9-D12A-44AC-B5FC-8627E8EC7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305300"/>
            <a:ext cx="1943100" cy="9144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4D09897-6511-4F4C-BBC1-A5BBEF49C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305300"/>
            <a:ext cx="666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FF4627D-5DB4-40B6-904E-550DB91B4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438650"/>
            <a:ext cx="1657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Undo report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CF24C07-F627-4D5E-A61A-EFEC295DE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7148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delete report on toggle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B45F482-36D6-46A7-85C5-D05D39386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305300"/>
            <a:ext cx="1943100" cy="9144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1B7BB7D-A2BC-44B8-9D78-4E39C5AB9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305300"/>
            <a:ext cx="666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4168E5E-58C3-4F5A-96CD-46439FD67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438650"/>
            <a:ext cx="1657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Recalculate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F0F3D99-EA02-4123-B07C-5FC277C07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7148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update report count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6E72190-C199-4A4B-91AD-9FC2308A2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305300"/>
            <a:ext cx="1943100" cy="9144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84318A4-3962-458D-BF2C-29C574A9A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305300"/>
            <a:ext cx="666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B23D9D4-112C-406A-B19F-97483CA08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438650"/>
            <a:ext cx="1657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Moderate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7723B4F-B5F1-4ED5-A200-5D0509164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7148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ban state follows report data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836BE1D-A91A-445D-A4E6-356A35E0F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4762500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AB7BF"/>
          </a:solidFill>
          <a:ln xmlns:a="http://schemas.openxmlformats.org/drawingml/2006/main" w="0">
            <a:solidFill>
              <a:srgbClr val="AAB7B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9926A7B-0D59-4009-969F-7AB4D0567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762500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AB7BF"/>
          </a:solidFill>
          <a:ln xmlns:a="http://schemas.openxmlformats.org/drawingml/2006/main" w="0">
            <a:solidFill>
              <a:srgbClr val="AAB7BF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A4C53F6-3965-407D-BAEA-1DE641C01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762500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AB7BF"/>
          </a:solidFill>
          <a:ln xmlns:a="http://schemas.openxmlformats.org/drawingml/2006/main" w="0">
            <a:solidFill>
              <a:srgbClr val="AAB7B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42D41CD-6DF6-4131-92D7-F3F120F86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GBPIET Notes final project | 10</a:t>
            </a:r>
          </a:p>
        </p:txBody>
      </p:sp>
    </p:spTree>
    <p:extLst>
      <p:ext uri="{BB962C8B-B14F-4D97-AF65-F5344CB8AC3E}">
        <p14:creationId xmlns:p14="http://schemas.microsoft.com/office/powerpoint/2010/main" val="130687043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7D4F9AF-6138-4943-946E-1877F97E1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3EA"/>
          </a:solidFill>
          <a:ln xmlns:a="http://schemas.openxmlformats.org/drawingml/2006/main" w="0">
            <a:solidFill>
              <a:srgbClr val="F8F3E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10C780-B485-4AA7-9260-8654E837B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SECURITY + QUALITY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B9BA90-A0BD-4AC1-A9F8-75DA6100C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8572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The implementation protects accounts, ownership, files, and project maintainability.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3BCB76-41AD-4707-8EE6-82F65FABF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05000"/>
            <a:ext cx="2952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FBCECD-6690-43EC-B007-69E17561E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14213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6A1F39-C88D-4AA0-A392-71DE6F8F3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09800"/>
            <a:ext cx="2609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Authentication security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E90EB5-C836-4149-A2DB-B1BC74403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52700"/>
            <a:ext cx="26098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Passwords are hashed with bcrypt; JWT access and refresh tokens use HTTP-only cookies.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ECA9E3-99BF-4C7A-8A69-8FCA623DA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905000"/>
            <a:ext cx="2952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36D686-FA2B-437E-8E6A-ECBEC35D5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0764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BF7D06-DA03-41B2-A399-BE8073B19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209800"/>
            <a:ext cx="2609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Authorization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2A62EF-F483-4F2F-8025-D182F89EF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552700"/>
            <a:ext cx="26098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Protected routes enforce current-user identity, role checks, and ownership before sensitive actions.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96D0A8-5949-495D-834F-AC7E97289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905000"/>
            <a:ext cx="2952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8FB03D-1AB6-4D89-AA0A-4205AD21F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0764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7B4B94-225E-468E-8E55-12795B8A0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209800"/>
            <a:ext cx="2609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Upload safety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E9F8E6-B7FC-4BE1-B9F4-3AC08563E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552700"/>
            <a:ext cx="26098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Multer and dedicated upload middleware coordinate files before cloud storage and metadata saving.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9906E3-980B-4C47-909B-6092A6DDE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2952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6E2375-5362-4A74-9652-EB2B37721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07670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FA5D90-63FB-4FE3-9DA6-A630B493C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10050"/>
            <a:ext cx="2609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Cleanup consistency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BC1806-0718-47CB-A9BC-D39743E48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552950"/>
            <a:ext cx="26098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Account deletion removes associated content, relations, reports, likes, comments, and uploaded files where applicable.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A289E5-D457-4EF7-AB8A-343CB8645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905250"/>
            <a:ext cx="2952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E5E0D2-CA31-4D68-B942-F4970BCB2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07670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864B64-06BE-4A25-B425-F43E82535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210050"/>
            <a:ext cx="2609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Reusable structure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A1967F-0CB8-48D0-A213-83CE7A664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552950"/>
            <a:ext cx="26098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Route groups, controllers, Mongoose models, contexts, and reusable components keep the code maintainable.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0FDBF02-0ECB-43F5-957E-334CB5289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905250"/>
            <a:ext cx="2952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6F40D02-98A0-41A6-B66C-85B68BB6B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07670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14213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5B09C03-4719-4FF9-914A-D8ABFF771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210050"/>
            <a:ext cx="2609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Validation checks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8CDAB5C-B844-4652-AF9E-9B3DDE561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552950"/>
            <a:ext cx="26098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Frontend lint/build and backend node --check helped catch syntax and integration issues.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DD81445-1047-4900-ADA7-90D98830A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GBPIET Notes final project | 11</a:t>
            </a:r>
          </a:p>
        </p:txBody>
      </p:sp>
    </p:spTree>
    <p:extLst>
      <p:ext uri="{BB962C8B-B14F-4D97-AF65-F5344CB8AC3E}">
        <p14:creationId xmlns:p14="http://schemas.microsoft.com/office/powerpoint/2010/main" val="168215028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3695534-BBA5-413A-B133-A8641F186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3EA"/>
          </a:solidFill>
          <a:ln xmlns:a="http://schemas.openxmlformats.org/drawingml/2006/main" w="0">
            <a:solidFill>
              <a:srgbClr val="F8F3E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A5FC7C-9F8E-4075-97E4-C109105C1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TESTING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1C0F4A-9C90-4062-9C35-5DD061DA2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8572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Module-wise testing showed the final system works across features and devices.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E0285D-3B85-4DC9-80C3-4D0A3E7C0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52600"/>
            <a:ext cx="10287000" cy="40005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14213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0BD5E6-64E4-4093-A9AC-9CADC52FD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669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Module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3427F0-1F7C-40AB-B55F-3BBA257C0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866900"/>
            <a:ext cx="533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Validation focus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0B606A-07D7-4F61-9029-60545A1F7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8669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Result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478A84-3C73-4D65-AB6F-0B2D17915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47900"/>
            <a:ext cx="10287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3"/>
          </a:solidFill>
          <a:ln xmlns:a="http://schemas.openxmlformats.org/drawingml/2006/main" w="9525">
            <a:solidFill>
              <a:srgbClr val="D8E1E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C24B0A-C89B-43FA-B521-4D04377FA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622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Authentication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4E67D2-4F52-4844-BD31-261C2D692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362200"/>
            <a:ext cx="533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Login, signup, Google auth, profile completion, logout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3C251E-AD84-4963-9561-69198C0E4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343150"/>
            <a:ext cx="95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Passed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F9BA5A-4B6C-4D52-B711-6DD9DAA8E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62250"/>
            <a:ext cx="10287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35CE33-EDC9-42D1-A5AB-F0A36560B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7655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Notes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B2E84A-63BB-41DD-81E3-B5559F596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876550"/>
            <a:ext cx="533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Upload, list, preview, detail, open, download, like, comments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B2DDAF-3B31-4F5C-A8CD-AC4DFC35D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857500"/>
            <a:ext cx="95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Passed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6A54D5-B04D-4D22-A82C-C9E1F8F9D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76600"/>
            <a:ext cx="10287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3"/>
          </a:solidFill>
          <a:ln xmlns:a="http://schemas.openxmlformats.org/drawingml/2006/main" w="9525">
            <a:solidFill>
              <a:srgbClr val="D8E1E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9BBED4-EB8B-4955-9919-70A739A8E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909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Q&amp;A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BCFE11-AE82-4A05-A7C8-803C57CCA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390900"/>
            <a:ext cx="533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Ask question, tags, images, answers, likes, liked users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8D9735-F3F5-45AE-AA07-17F9549FB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371850"/>
            <a:ext cx="95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Passed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64B789-0BEC-4E42-81F4-4D1DD4190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90950"/>
            <a:ext cx="10287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8668D06-94B1-43AA-9ADB-B5F5EF6ED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0525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Community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D5B8D9-ED28-4B81-93B6-A80041F96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905250"/>
            <a:ext cx="533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Post text/images, carousel, comments, edit, delete, likes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FAA5F3-0AA9-4649-86DF-485AAF677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886200"/>
            <a:ext cx="95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Passed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DE6CEE-11B0-47DB-88B1-5F2F240A8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05300"/>
            <a:ext cx="10287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3"/>
          </a:solidFill>
          <a:ln xmlns:a="http://schemas.openxmlformats.org/drawingml/2006/main" w="9525">
            <a:solidFill>
              <a:srgbClr val="D8E1E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08F3A1C-6669-4D24-A733-12541D86C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196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Profile &amp; Settings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732CD40-43C6-40B4-BD33-8E881505C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419600"/>
            <a:ext cx="533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Avatar, cover, stats, tabs, links, password, delete account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EEFF1F-2235-49F1-9579-979E5A96C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400550"/>
            <a:ext cx="95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Passed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0580355-5147-4138-856F-A1E060C3D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19650"/>
            <a:ext cx="10287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1C7EDF7-2A7D-44DA-A9CE-52E70FAFA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3395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AI + Moderation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AB6E8D2-1F8B-4811-968E-5EEA5BE08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933950"/>
            <a:ext cx="533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Streaming, file upload, history, report toggle, count update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C2D3821-5C78-47F3-A4AC-D9E6BF5C8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914900"/>
            <a:ext cx="95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Passed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2FB6BAD-80B1-4825-9A9D-FBB3930B0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34000"/>
            <a:ext cx="10287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3"/>
          </a:solidFill>
          <a:ln xmlns:a="http://schemas.openxmlformats.org/drawingml/2006/main" w="9525">
            <a:solidFill>
              <a:srgbClr val="D8E1E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7B80E04-3489-4CED-BF47-60D72794F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4483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Responsive UI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AAC2B81-1F5B-40F0-BB6C-C2FA0CDAB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5448300"/>
            <a:ext cx="533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Mobile, tablet, laptop, and desktop layout checks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6C52F1E-ACA3-4267-9B15-DC16C3A60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429250"/>
            <a:ext cx="95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Passed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DDFCA26-026C-421D-9024-9FD0E31BC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GBPIET Notes final project | 12</a:t>
            </a:r>
          </a:p>
        </p:txBody>
      </p:sp>
    </p:spTree>
    <p:extLst>
      <p:ext uri="{BB962C8B-B14F-4D97-AF65-F5344CB8AC3E}">
        <p14:creationId xmlns:p14="http://schemas.microsoft.com/office/powerpoint/2010/main" val="903136824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881CC3B-AEF5-41CB-8437-391752C94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3EA"/>
          </a:solidFill>
          <a:ln xmlns:a="http://schemas.openxmlformats.org/drawingml/2006/main" w="0">
            <a:solidFill>
              <a:srgbClr val="F8F3E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356F81-3527-41B7-8809-DF38A69B0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OUTCOMES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814ED6-26CB-4DEB-A9AE-DB80E9F0B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8572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The delivered system is a working foundation with clear future extension paths.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2AECD2-E78A-4E12-BF01-778A399F2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3714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DC382A-9FD9-4B38-BDCE-270F7C874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7170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7B2B23-4EA9-4DD2-BFB1-1BBF7A3ED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05050"/>
            <a:ext cx="3371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Major outcomes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27B06E-0D64-4CA2-AB18-C1E1F4D06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47950"/>
            <a:ext cx="33718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Central resource repository, Q&amp;A knowledge base, community feed, contribution analytics, secure authentication, file storage, AI assistant, and moderation workflow.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B9DAEF-FBA5-4534-8397-1D89DAD9B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38600"/>
            <a:ext cx="3714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553B25-608B-44A5-9127-585236B60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100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BF6F16-27FA-47CF-9309-2759FCA64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43400"/>
            <a:ext cx="3371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Current limitations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A23005-382B-4F7F-ABA7-B6B47FB64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86300"/>
            <a:ext cx="33718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Focused on GBPIET use case, depends on external cloud/API services, and starts with lightweight AI retrieval rather than a full vector database.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900B83-84FD-437B-8A20-8A3DD7C7F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000250"/>
            <a:ext cx="2571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Future scope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100705-2088-4688-A42A-4F8CA2240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857500"/>
            <a:ext cx="876300" cy="876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83091A-431F-48FB-A001-98E979EFE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124200"/>
            <a:ext cx="876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0C001D-03C9-49DE-9139-18E36522A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000500"/>
            <a:ext cx="1104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Notifications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7AD4E6-E753-4743-9477-D561C4F68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324350"/>
            <a:ext cx="1219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real-time academic updates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911EAC-F9CF-438B-A961-7A7BDB133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276600"/>
            <a:ext cx="47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4CA"/>
          </a:solidFill>
          <a:ln xmlns:a="http://schemas.openxmlformats.org/drawingml/2006/main" w="0">
            <a:solidFill>
              <a:srgbClr val="B7C4C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529C0A-8A6E-4E31-BB9F-A66E25515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2857500"/>
            <a:ext cx="876300" cy="876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3BA833-7C65-4DE3-A4CC-5439E1F3B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3124200"/>
            <a:ext cx="876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266C58-34BF-4DC7-B7CD-DD41444FD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4000500"/>
            <a:ext cx="1104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Recommendations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2F301E-9A12-4F69-AB5E-CA2AD84E8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4324350"/>
            <a:ext cx="1219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personalized notes and questions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BD73F7-34DF-4E7C-BCE2-269F79CE7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3276600"/>
            <a:ext cx="47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4CA"/>
          </a:solidFill>
          <a:ln xmlns:a="http://schemas.openxmlformats.org/drawingml/2006/main" w="0">
            <a:solidFill>
              <a:srgbClr val="B7C4C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A7BF43-B2F9-4748-9836-5FC0E4875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857500"/>
            <a:ext cx="876300" cy="876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AA3CDBF-35C5-4741-B400-71BD97997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24200"/>
            <a:ext cx="876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D15A2D-B0A2-4B90-9683-E0516D5CE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000500"/>
            <a:ext cx="1104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Admin dashboard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516B542-0F41-4405-B94B-09457B667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324350"/>
            <a:ext cx="1219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moderation and analytics control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152D461-8EA1-4176-A070-74DC2911D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276600"/>
            <a:ext cx="47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4CA"/>
          </a:solidFill>
          <a:ln xmlns:a="http://schemas.openxmlformats.org/drawingml/2006/main" w="0">
            <a:solidFill>
              <a:srgbClr val="B7C4C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FAD2CB8-3D88-4088-9D65-6873DEC50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2857500"/>
            <a:ext cx="876300" cy="876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0B8B3D7-6CBB-4EA4-B438-E9BA6356E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3124200"/>
            <a:ext cx="876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D4430C3-B73F-4B68-A287-3F03F70F4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4000500"/>
            <a:ext cx="1104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Advanced AI retrieval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8A6BA78-D615-4192-8090-A4C687E75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4324350"/>
            <a:ext cx="1219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better context-aware answers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E9FF76B-C63F-4304-BB61-1FF86E4C7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GBPIET Notes final project | 13</a:t>
            </a:r>
          </a:p>
        </p:txBody>
      </p:sp>
    </p:spTree>
    <p:extLst>
      <p:ext uri="{BB962C8B-B14F-4D97-AF65-F5344CB8AC3E}">
        <p14:creationId xmlns:p14="http://schemas.microsoft.com/office/powerpoint/2010/main" val="847304389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A4CF7E6-377A-4193-A367-528204913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14213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FB2BA4-135B-4F28-8969-032E5B710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3429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Conclusion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E2CAEF-4D8F-49EF-B975-33511CC48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62100"/>
            <a:ext cx="8096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F8F3EA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F8F3EA"/>
                </a:solidFill>
                <a:latin typeface="Aptos"/>
                <a:ea typeface="Aptos"/>
                <a:cs typeface="Aptos"/>
              </a:rPr>
              <a:t>GBPIET Notes demonstrates how a full-stack web application can solve a real campus problem by combining structured resource sharing, peer collaboration, contribution recognition, AI assistance, and safety controls.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CF12B2-502A-47DE-BBA1-ED7D4C33B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29000"/>
            <a:ext cx="32385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Centralized academic resources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BD343B-78CD-45A5-89B4-56284878F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429000"/>
            <a:ext cx="32385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Searchable Q&amp;A knowledge retention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EE6057-54B6-41A7-AADD-7F8C67269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32385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Community profiles and leaderboards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5079D7-6905-4B15-9828-05A07A3FD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981450"/>
            <a:ext cx="32385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Secure MERN-style architecture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DF2EBD-0165-4E77-B812-03AD23480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33900"/>
            <a:ext cx="31432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AI-enabled study support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C50C5B-82D8-43EC-AEF3-56AF4E95B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819150"/>
            <a:ext cx="2381250" cy="44767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8F3EA"/>
          </a:solidFill>
          <a:ln xmlns:a="http://schemas.openxmlformats.org/drawingml/2006/main" w="0">
            <a:solidFill>
              <a:srgbClr val="F8F3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D3B118-B660-482D-9FCC-6D4369064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200150"/>
            <a:ext cx="1905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Viva-ready summary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579A92-B844-4A51-9A3C-BF0D127F0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809750"/>
            <a:ext cx="18097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Problem</a:t>
            </a:r>
          </a:p>
          <a:p xmlns:a="http://schemas.openxmlformats.org/drawingml/2006/main">
            <a:pPr algn="ctr">
              <a:defRPr sz="1125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Scattered resources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125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Solution</a:t>
            </a:r>
          </a:p>
          <a:p xmlns:a="http://schemas.openxmlformats.org/drawingml/2006/main">
            <a:pPr algn="ctr">
              <a:defRPr sz="1125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Integrated academic platform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125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Technology</a:t>
            </a:r>
          </a:p>
          <a:p xmlns:a="http://schemas.openxmlformats.org/drawingml/2006/main">
            <a:pPr algn="ctr">
              <a:defRPr sz="1125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React + Express + MongoDB + Supabase + Gemini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125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Validation</a:t>
            </a:r>
          </a:p>
          <a:p xmlns:a="http://schemas.openxmlformats.org/drawingml/2006/main">
            <a:pPr algn="ctr">
              <a:defRPr sz="1125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Major modules passed functional checks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215031-8084-4E8E-8E72-697C4550B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3810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Thank You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2345DC-874C-4BC4-BD05-C36A4EF65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BFD7D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BFD7D4"/>
                </a:solidFill>
                <a:latin typeface="Aptos"/>
                <a:ea typeface="Aptos"/>
                <a:cs typeface="Aptos"/>
              </a:rPr>
              <a:t>GBPIET Notes final project | 14</a:t>
            </a:r>
          </a:p>
        </p:txBody>
      </p:sp>
    </p:spTree>
    <p:extLst>
      <p:ext uri="{BB962C8B-B14F-4D97-AF65-F5344CB8AC3E}">
        <p14:creationId xmlns:p14="http://schemas.microsoft.com/office/powerpoint/2010/main" val="205265100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2026-06-10T19:18:00.3700000Z</dcterms:created>
  <dcterms:modified xsi:type="dcterms:W3CDTF">2026-06-10T19:18:00.3700000Z</dcterms:modified>
</coreProperties>
</file>